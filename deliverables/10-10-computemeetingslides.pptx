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embeddedFontLst>
    <p:embeddedFont>
      <p:font typeface="DM Sans" pitchFamily="2" charset="0"/>
      <p:regular r:id="rId12"/>
      <p:bold r:id="rId13"/>
    </p:embeddedFont>
    <p:embeddedFont>
      <p:font typeface="Space Grotesk" panose="020B0604020202020204" charset="0"/>
      <p:regular r:id="rId14"/>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2" d="100"/>
          <a:sy n="92" d="100"/>
        </p:scale>
        <p:origin x="90" y="24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Area per PE</c:v>
                </c:pt>
              </c:strCache>
            </c:strRef>
          </c:tx>
          <c:invertIfNegative val="1"/>
          <c:dPt>
            <c:idx val="0"/>
            <c:invertIfNegative val="1"/>
            <c:bubble3D val="0"/>
            <c:spPr>
              <a:solidFill>
                <a:schemeClr val="accent1"/>
              </a:solidFill>
              <a:ln>
                <a:noFill/>
              </a:ln>
            </c:spPr>
            <c:extLst>
              <c:ext xmlns:c16="http://schemas.microsoft.com/office/drawing/2014/chart" uri="{C3380CC4-5D6E-409C-BE32-E72D297353CC}">
                <c16:uniqueId val="{00000001-F8F2-4FAB-B712-D165E99E7EBF}"/>
              </c:ext>
            </c:extLst>
          </c:dPt>
          <c:dPt>
            <c:idx val="1"/>
            <c:invertIfNegative val="1"/>
            <c:bubble3D val="0"/>
            <c:spPr>
              <a:solidFill>
                <a:schemeClr val="dk2"/>
              </a:solidFill>
              <a:ln>
                <a:noFill/>
              </a:ln>
            </c:spPr>
            <c:extLst>
              <c:ext xmlns:c16="http://schemas.microsoft.com/office/drawing/2014/chart" uri="{C3380CC4-5D6E-409C-BE32-E72D297353CC}">
                <c16:uniqueId val="{00000003-F8F2-4FAB-B712-D165E99E7EBF}"/>
              </c:ext>
            </c:extLst>
          </c:dPt>
          <c:dPt>
            <c:idx val="2"/>
            <c:invertIfNegative val="1"/>
            <c:bubble3D val="0"/>
            <c:spPr>
              <a:solidFill>
                <a:schemeClr val="dk2"/>
              </a:solidFill>
              <a:ln>
                <a:noFill/>
              </a:ln>
            </c:spPr>
            <c:extLst>
              <c:ext xmlns:c16="http://schemas.microsoft.com/office/drawing/2014/chart" uri="{C3380CC4-5D6E-409C-BE32-E72D297353CC}">
                <c16:uniqueId val="{00000005-F8F2-4FAB-B712-D165E99E7EBF}"/>
              </c:ext>
            </c:extLst>
          </c:dPt>
          <c:dLbls>
            <c:numFmt formatCode="#,##0" sourceLinked="0"/>
            <c:spPr>
              <a:noFill/>
              <a:ln>
                <a:noFill/>
              </a:ln>
              <a:effectLst/>
            </c:spPr>
            <c:txPr>
              <a:bodyPr/>
              <a:lstStyle/>
              <a:p>
                <a:pPr>
                  <a:defRPr sz="1200" b="1">
                    <a:solidFill>
                      <a:schemeClr val="dk1"/>
                    </a:solidFill>
                    <a:latin typeface="DM San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Shipped: carry-save</c:v>
                </c:pt>
                <c:pt idx="1">
                  <c:v>Plain a × b + psum</c:v>
                </c:pt>
                <c:pt idx="2">
                  <c:v>Plain, Booth multiplier</c:v>
                </c:pt>
              </c:strCache>
            </c:strRef>
          </c:cat>
          <c:val>
            <c:numRef>
              <c:f>Sheet1!$B$2:$B$4</c:f>
              <c:numCache>
                <c:formatCode>General</c:formatCode>
                <c:ptCount val="3"/>
                <c:pt idx="0">
                  <c:v>9169</c:v>
                </c:pt>
                <c:pt idx="1">
                  <c:v>5892</c:v>
                </c:pt>
                <c:pt idx="2">
                  <c:v>4825</c:v>
                </c:pt>
              </c:numCache>
            </c:numRef>
          </c:val>
          <c:extLst>
            <c:ext xmlns:c16="http://schemas.microsoft.com/office/drawing/2014/chart" uri="{C3380CC4-5D6E-409C-BE32-E72D297353CC}">
              <c16:uniqueId val="{00000006-F8F2-4FAB-B712-D165E99E7EBF}"/>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noFill/>
          </a:ln>
        </c:spPr>
        <c:txPr>
          <a:bodyPr/>
          <a:lstStyle/>
          <a:p>
            <a:pPr>
              <a:defRPr sz="1200">
                <a:solidFill>
                  <a:schemeClr val="dk1"/>
                </a:solidFill>
                <a:latin typeface="DM Sans"/>
              </a:defRPr>
            </a:pPr>
            <a:endParaRPr lang="en-US"/>
          </a:p>
        </c:txPr>
        <c:crossAx val="-2113994440"/>
        <c:crosses val="autoZero"/>
        <c:auto val="1"/>
        <c:lblAlgn val="ctr"/>
        <c:lblOffset val="100"/>
        <c:noMultiLvlLbl val="0"/>
      </c:catAx>
      <c:valAx>
        <c:axId val="-2113994440"/>
        <c:scaling>
          <c:orientation val="minMax"/>
          <c:max val="11500"/>
          <c:min val="0"/>
        </c:scaling>
        <c:delete val="1"/>
        <c:axPos val="t"/>
        <c:numFmt formatCode="General" sourceLinked="1"/>
        <c:majorTickMark val="out"/>
        <c:minorTickMark val="none"/>
        <c:tickLblPos val="nextTo"/>
        <c:crossAx val="-2068027336"/>
        <c:crosses val="autoZero"/>
        <c:crossBetween val="between"/>
      </c:valAx>
      <c:spPr>
        <a:noFill/>
        <a:ln>
          <a:noFill/>
        </a:ln>
      </c:spPr>
    </c:plotArea>
    <c:plotVisOnly val="1"/>
    <c:dispBlanksAs val="gap"/>
    <c:showDLblsOverMax val="1"/>
  </c:chart>
  <c:spPr>
    <a:noFill/>
    <a:ln>
      <a:noFill/>
    </a:ln>
  </c:spPr>
  <c:txPr>
    <a:bodyPr/>
    <a:lstStyle/>
    <a:p>
      <a:pPr>
        <a:defRPr sz="1200">
          <a:solidFill>
            <a:schemeClr val="dk1"/>
          </a:solidFill>
          <a:latin typeface="DM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h3e848c779e71b7e2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h3e848c779e71b7e2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This week the first piece of the matrix unit landed in RTL: the PE array, the grid that does the multiply-adds. It passes its self-checking testbench, and we have a first cost comparison. The main open question is how decode maps onto it.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slides from 10-03 split the matrix unit into five stages. The PE array is the one we built: the multiply-adds themselves. Everything around it, from commands to SRAM traffic to summing long dot products, is still to build.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Each PE holds one number of the A tile. Every cycle a new column of B enters at the top and moves down one PE per cycle, while each row's running sum moves right. The sum leaving the right edge of row i is row i of A dotted with that B column. Column k of B is delayed k cycles on the way in so it meets its sum, and the rows are realigned on the way out, so we push whole columns in and get whole columns out.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A loads one row per transfer, last row first, because rows shift down the array. B is always accepted. C comes out Rows plus Cols plus one cycles later, in order, with no backpressure, so a consumer that can stall needs a FIFO. While one tile computes, the next one loads into shadow registers; the first B column after a_full_o switches tiles, and the switch travels with that column. INT4 mode is reserved and raises err_mode_o.</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Inside each PE, the product a times b is written as eight partial products, one per bit of b, the way you multiply by hand in binary. Together with the incoming sum and carry that's ten numbers, and a tree of carry-save adders squeezes them to two without ever propagating a carry. So the PE's delay is the same at any accumulator width; one ordinary adder per row at the array's edge finishes the job.</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pe_tester runs every int8 pair through one PE with random incoming sums, alternating between the two ways the PE can read A. sa_tester drives whole arrays with random tiles and columns, random gaps and tile switches, and a reference model that predicts every output column. It runs four shapes at once, including the minimum accumulator widths.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Every check passed. The PE saw all 65,536 input pairs. The four array shapes produced almost nine thousand output columns between them, through more than eighteen hundred tile switches, all matching the model, including the two shapes at the minimum accumulator width. Not covered yet: reset in the middle of a run, INT4, and gate-level netlists.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We synthesized one PE two ways: the shipped carry-save PE, and a plain psum plus a times b that lets the tool build the multiplier. On sky130 the carry-save PE is about twice the area for about a thirty percent shorter path, which only pays off at a fast clock. On the FPGA the hand-built tree hides the multiply, so it lands in LUTs instead of a DSP block. These are Yosys numbers: trust the ratios, then redo it in Design Compiler and Vivado.</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The biggest question isn't the PE, it's the dataflow. Decode at batch one multiplies a matrix by a single vector, and an A-stationary array keeps at most one row of PEs busy there; it shines on prefill. Once that's settled: pick the PE style per target, build the blocks around the array, and measure with Design Compiler and Vivado.</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7" name="Google Shape;17;p2"/>
          <p:cNvPicPr preferRelativeResize="0"/>
          <p:nvPr/>
        </p:nvPicPr>
        <p:blipFill>
          <a:blip r:embed="rId2">
            <a:alphaModFix/>
          </a:blip>
          <a:stretch>
            <a:fillRect/>
          </a:stretch>
        </p:blipFill>
        <p:spPr>
          <a:xfrm>
            <a:off x="93020" y="82975"/>
            <a:ext cx="502920" cy="50292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0" name="Google Shape;20;p3"/>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1" name="Google Shape;21;p3"/>
          <p:cNvPicPr preferRelativeResize="0"/>
          <p:nvPr/>
        </p:nvPicPr>
        <p:blipFill>
          <a:blip r:embed="rId2">
            <a:alphaModFix/>
          </a:blip>
          <a:stretch>
            <a:fillRect/>
          </a:stretch>
        </p:blipFill>
        <p:spPr>
          <a:xfrm>
            <a:off x="93020" y="82975"/>
            <a:ext cx="502920" cy="50292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4" name="Google Shape;24;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5" name="Google Shape;25;p4"/>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26" name="Google Shape;26;p4"/>
          <p:cNvCxnSpPr/>
          <p:nvPr/>
        </p:nvCxnSpPr>
        <p:spPr>
          <a:xfrm>
            <a:off x="409000" y="1051700"/>
            <a:ext cx="4722900" cy="0"/>
          </a:xfrm>
          <a:prstGeom prst="straightConnector1">
            <a:avLst/>
          </a:prstGeom>
          <a:noFill/>
          <a:ln w="19050" cap="flat" cmpd="sng">
            <a:solidFill>
              <a:schemeClr val="accent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 name="Google Shape;29;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5"/>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4" name="Google Shape;34;p6"/>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7" name="Google Shape;37;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8" name="Google Shape;38;p7"/>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1" name="Google Shape;41;p8"/>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2"/>
        <p:cNvGrpSpPr/>
        <p:nvPr/>
      </p:nvGrpSpPr>
      <p:grpSpPr>
        <a:xfrm>
          <a:off x="0" y="0"/>
          <a:ext cx="0" cy="0"/>
          <a:chOff x="0" y="0"/>
          <a:chExt cx="0" cy="0"/>
        </a:xfrm>
      </p:grpSpPr>
      <p:sp>
        <p:nvSpPr>
          <p:cNvPr id="43" name="Google Shape;43;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5" name="Google Shape;45;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6" name="Google Shape;46;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7" name="Google Shape;47;p9"/>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0" name="Google Shape;50;p10"/>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3" name="Google Shape;53;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4" name="Google Shape;54;p11"/>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12"/>
          <p:cNvSpPr txBox="1">
            <a:spLocks noGrp="1"/>
          </p:cNvSpPr>
          <p:nvPr>
            <p:ph type="sldNum" idx="12"/>
          </p:nvPr>
        </p:nvSpPr>
        <p:spPr>
          <a:xfrm>
            <a:off x="8548658" y="47394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Space Grotesk"/>
              <a:buNone/>
              <a:defRPr sz="2800" b="1">
                <a:solidFill>
                  <a:schemeClr val="dk1"/>
                </a:solidFill>
                <a:latin typeface="Space Grotesk"/>
                <a:ea typeface="Space Grotesk"/>
                <a:cs typeface="Space Grotesk"/>
                <a:sym typeface="Space Grotesk"/>
              </a:defRPr>
            </a:lvl1pPr>
            <a:lvl2pPr lvl="1">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2pPr>
            <a:lvl3pPr lvl="2">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3pPr>
            <a:lvl4pPr lvl="3">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4pPr>
            <a:lvl5pPr lvl="4">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5pPr>
            <a:lvl6pPr lvl="5">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6pPr>
            <a:lvl7pPr lvl="6">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7pPr>
            <a:lvl8pPr lvl="7">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8pPr>
            <a:lvl9pPr lvl="8">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DM Sans"/>
              <a:buChar char="●"/>
              <a:defRPr sz="1800">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
        <p:nvSpPr>
          <p:cNvPr id="8" name="Google Shape;8;p1"/>
          <p:cNvSpPr txBox="1">
            <a:spLocks noGrp="1"/>
          </p:cNvSpPr>
          <p:nvPr>
            <p:ph type="sldNum" idx="12"/>
          </p:nvPr>
        </p:nvSpPr>
        <p:spPr>
          <a:xfrm>
            <a:off x="8548658" y="47394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DM Sans"/>
                <a:ea typeface="DM Sans"/>
                <a:cs typeface="DM Sans"/>
                <a:sym typeface="DM Sans"/>
              </a:defRPr>
            </a:lvl1pPr>
            <a:lvl2pPr lvl="1" algn="r">
              <a:buNone/>
              <a:defRPr sz="1000">
                <a:solidFill>
                  <a:schemeClr val="dk2"/>
                </a:solidFill>
                <a:latin typeface="DM Sans"/>
                <a:ea typeface="DM Sans"/>
                <a:cs typeface="DM Sans"/>
                <a:sym typeface="DM Sans"/>
              </a:defRPr>
            </a:lvl2pPr>
            <a:lvl3pPr lvl="2" algn="r">
              <a:buNone/>
              <a:defRPr sz="1000">
                <a:solidFill>
                  <a:schemeClr val="dk2"/>
                </a:solidFill>
                <a:latin typeface="DM Sans"/>
                <a:ea typeface="DM Sans"/>
                <a:cs typeface="DM Sans"/>
                <a:sym typeface="DM Sans"/>
              </a:defRPr>
            </a:lvl3pPr>
            <a:lvl4pPr lvl="3" algn="r">
              <a:buNone/>
              <a:defRPr sz="1000">
                <a:solidFill>
                  <a:schemeClr val="dk2"/>
                </a:solidFill>
                <a:latin typeface="DM Sans"/>
                <a:ea typeface="DM Sans"/>
                <a:cs typeface="DM Sans"/>
                <a:sym typeface="DM Sans"/>
              </a:defRPr>
            </a:lvl4pPr>
            <a:lvl5pPr lvl="4" algn="r">
              <a:buNone/>
              <a:defRPr sz="1000">
                <a:solidFill>
                  <a:schemeClr val="dk2"/>
                </a:solidFill>
                <a:latin typeface="DM Sans"/>
                <a:ea typeface="DM Sans"/>
                <a:cs typeface="DM Sans"/>
                <a:sym typeface="DM Sans"/>
              </a:defRPr>
            </a:lvl5pPr>
            <a:lvl6pPr lvl="5" algn="r">
              <a:buNone/>
              <a:defRPr sz="1000">
                <a:solidFill>
                  <a:schemeClr val="dk2"/>
                </a:solidFill>
                <a:latin typeface="DM Sans"/>
                <a:ea typeface="DM Sans"/>
                <a:cs typeface="DM Sans"/>
                <a:sym typeface="DM Sans"/>
              </a:defRPr>
            </a:lvl6pPr>
            <a:lvl7pPr lvl="6" algn="r">
              <a:buNone/>
              <a:defRPr sz="1000">
                <a:solidFill>
                  <a:schemeClr val="dk2"/>
                </a:solidFill>
                <a:latin typeface="DM Sans"/>
                <a:ea typeface="DM Sans"/>
                <a:cs typeface="DM Sans"/>
                <a:sym typeface="DM Sans"/>
              </a:defRPr>
            </a:lvl7pPr>
            <a:lvl8pPr lvl="7" algn="r">
              <a:buNone/>
              <a:defRPr sz="1000">
                <a:solidFill>
                  <a:schemeClr val="dk2"/>
                </a:solidFill>
                <a:latin typeface="DM Sans"/>
                <a:ea typeface="DM Sans"/>
                <a:cs typeface="DM Sans"/>
                <a:sym typeface="DM Sans"/>
              </a:defRPr>
            </a:lvl8pPr>
            <a:lvl9pPr lvl="8" algn="r">
              <a:buNone/>
              <a:defRPr sz="1000">
                <a:solidFill>
                  <a:schemeClr val="dk2"/>
                </a:solidFill>
                <a:latin typeface="DM Sans"/>
                <a:ea typeface="DM Sans"/>
                <a:cs typeface="DM Sans"/>
                <a:sym typeface="DM Sans"/>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p:nvPr/>
        </p:nvSpPr>
        <p:spPr>
          <a:xfrm>
            <a:off x="0" y="4663234"/>
            <a:ext cx="1363325" cy="175275"/>
          </a:xfrm>
          <a:custGeom>
            <a:avLst/>
            <a:gdLst/>
            <a:ahLst/>
            <a:cxnLst/>
            <a:rect l="l" t="t" r="r" b="b"/>
            <a:pathLst>
              <a:path w="54533" h="7011" extrusionOk="0">
                <a:moveTo>
                  <a:pt x="0" y="0"/>
                </a:moveTo>
                <a:lnTo>
                  <a:pt x="24540" y="0"/>
                </a:lnTo>
                <a:lnTo>
                  <a:pt x="31551" y="7011"/>
                </a:lnTo>
                <a:lnTo>
                  <a:pt x="54533" y="7011"/>
                </a:lnTo>
              </a:path>
            </a:pathLst>
          </a:custGeom>
          <a:noFill/>
          <a:ln w="19050" cap="flat" cmpd="sng">
            <a:solidFill>
              <a:schemeClr val="accent1"/>
            </a:solidFill>
            <a:prstDash val="solid"/>
            <a:round/>
            <a:headEnd type="none" w="med" len="med"/>
            <a:tailEnd type="oval" w="med" len="med"/>
          </a:ln>
        </p:spPr>
        <p:txBody>
          <a:bodyPr/>
          <a:lstStyle/>
          <a:p>
            <a:endParaRPr lang="en-US"/>
          </a:p>
        </p:txBody>
      </p:sp>
      <p:sp>
        <p:nvSpPr>
          <p:cNvPr id="10" name="Google Shape;10;p1"/>
          <p:cNvSpPr/>
          <p:nvPr/>
        </p:nvSpPr>
        <p:spPr>
          <a:xfrm>
            <a:off x="0" y="4809309"/>
            <a:ext cx="1003025" cy="175275"/>
          </a:xfrm>
          <a:custGeom>
            <a:avLst/>
            <a:gdLst/>
            <a:ahLst/>
            <a:cxnLst/>
            <a:rect l="l" t="t" r="r" b="b"/>
            <a:pathLst>
              <a:path w="40121" h="7011" extrusionOk="0">
                <a:moveTo>
                  <a:pt x="0" y="0"/>
                </a:moveTo>
                <a:lnTo>
                  <a:pt x="18308" y="0"/>
                </a:lnTo>
                <a:lnTo>
                  <a:pt x="25319" y="7011"/>
                </a:lnTo>
                <a:lnTo>
                  <a:pt x="40121" y="7011"/>
                </a:lnTo>
              </a:path>
            </a:pathLst>
          </a:custGeom>
          <a:noFill/>
          <a:ln w="19050" cap="flat" cmpd="sng">
            <a:solidFill>
              <a:schemeClr val="accent1"/>
            </a:solidFill>
            <a:prstDash val="solid"/>
            <a:round/>
            <a:headEnd type="none" w="med" len="med"/>
            <a:tailEnd type="oval" w="med" len="med"/>
          </a:ln>
        </p:spPr>
        <p:txBody>
          <a:bodyPr/>
          <a:lstStyle/>
          <a:p>
            <a:endParaRPr lang="en-US"/>
          </a:p>
        </p:txBody>
      </p:sp>
      <p:sp>
        <p:nvSpPr>
          <p:cNvPr id="11" name="Google Shape;11;p1"/>
          <p:cNvSpPr/>
          <p:nvPr/>
        </p:nvSpPr>
        <p:spPr>
          <a:xfrm>
            <a:off x="7858575" y="82605"/>
            <a:ext cx="1285425" cy="243450"/>
          </a:xfrm>
          <a:custGeom>
            <a:avLst/>
            <a:gdLst/>
            <a:ahLst/>
            <a:cxnLst/>
            <a:rect l="l" t="t" r="r" b="b"/>
            <a:pathLst>
              <a:path w="51417" h="9738" extrusionOk="0">
                <a:moveTo>
                  <a:pt x="51417" y="0"/>
                </a:moveTo>
                <a:lnTo>
                  <a:pt x="31941" y="0"/>
                </a:lnTo>
                <a:lnTo>
                  <a:pt x="22203" y="9738"/>
                </a:lnTo>
                <a:lnTo>
                  <a:pt x="0" y="9738"/>
                </a:lnTo>
              </a:path>
            </a:pathLst>
          </a:custGeom>
          <a:noFill/>
          <a:ln w="19050" cap="flat" cmpd="sng">
            <a:solidFill>
              <a:schemeClr val="accent1"/>
            </a:solidFill>
            <a:prstDash val="solid"/>
            <a:round/>
            <a:headEnd type="none" w="med" len="med"/>
            <a:tailEnd type="oval" w="med" len="med"/>
          </a:ln>
        </p:spPr>
        <p:txBody>
          <a:bodyPr/>
          <a:lstStyle/>
          <a:p>
            <a:endParaRPr lang="en-US"/>
          </a:p>
        </p:txBody>
      </p:sp>
      <p:sp>
        <p:nvSpPr>
          <p:cNvPr id="12" name="Google Shape;12;p1"/>
          <p:cNvSpPr/>
          <p:nvPr/>
        </p:nvSpPr>
        <p:spPr>
          <a:xfrm>
            <a:off x="8111775" y="277355"/>
            <a:ext cx="1032225" cy="243475"/>
          </a:xfrm>
          <a:custGeom>
            <a:avLst/>
            <a:gdLst/>
            <a:ahLst/>
            <a:cxnLst/>
            <a:rect l="l" t="t" r="r" b="b"/>
            <a:pathLst>
              <a:path w="41289" h="9739" extrusionOk="0">
                <a:moveTo>
                  <a:pt x="41289" y="0"/>
                </a:moveTo>
                <a:lnTo>
                  <a:pt x="27266" y="0"/>
                </a:lnTo>
                <a:lnTo>
                  <a:pt x="17528" y="9739"/>
                </a:lnTo>
                <a:lnTo>
                  <a:pt x="0" y="9739"/>
                </a:lnTo>
              </a:path>
            </a:pathLst>
          </a:custGeom>
          <a:noFill/>
          <a:ln w="19050" cap="flat" cmpd="sng">
            <a:solidFill>
              <a:schemeClr val="accent1"/>
            </a:solidFill>
            <a:prstDash val="solid"/>
            <a:round/>
            <a:headEnd type="none" w="med" len="med"/>
            <a:tailEnd type="oval" w="med" len="med"/>
          </a:ln>
        </p:spPr>
        <p:txBody>
          <a:bodyPr/>
          <a:lstStyle/>
          <a:p>
            <a:endParaRPr lang="en-US"/>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Matrix Unit Status Update</a:t>
            </a:r>
            <a:endParaRPr/>
          </a:p>
        </p:txBody>
      </p:sp>
      <p:sp>
        <p:nvSpPr>
          <p:cNvPr id="62" name="Google Shape;62;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a:spcAft>
                <a:spcPts val="1000"/>
              </a:spcAft>
            </a:pPr>
            <a:r>
              <a:rPr b="1">
                <a:solidFill>
                  <a:schemeClr val="accent4"/>
                </a:solidFill>
              </a:rPr>
              <a:t>Shipped: </a:t>
            </a:r>
            <a:r>
              <a:t>bpu_sa_array, an 8 × 8 int8 systolic array with INT32 sums</a:t>
            </a:r>
          </a:p>
          <a:p>
            <a:pPr>
              <a:spcAft>
                <a:spcPts val="1000"/>
              </a:spcAft>
            </a:pPr>
            <a:r>
              <a:rPr b="1">
                <a:solidFill>
                  <a:schemeClr val="accent4"/>
                </a:solidFill>
              </a:rPr>
              <a:t>Verified: </a:t>
            </a:r>
            <a:r>
              <a:t>the exhaustive PE test and four array shapes pass with 0 errors</a:t>
            </a:r>
          </a:p>
          <a:p>
            <a:pPr>
              <a:spcAft>
                <a:spcPts val="1000"/>
              </a:spcAft>
            </a:pPr>
            <a:r>
              <a:rPr b="1">
                <a:solidFill>
                  <a:schemeClr val="accent4"/>
                </a:solidFill>
              </a:rPr>
              <a:t>Measured: </a:t>
            </a:r>
            <a:r>
              <a:t>first area and FPGA-resource numbers for the PE</a:t>
            </a:r>
          </a:p>
          <a:p>
            <a:pPr>
              <a:spcAft>
                <a:spcPts val="1000"/>
              </a:spcAft>
            </a:pPr>
            <a:r>
              <a:rPr b="1">
                <a:solidFill>
                  <a:schemeClr val="accent4"/>
                </a:solidFill>
              </a:rPr>
              <a:t>Next: </a:t>
            </a:r>
            <a:r>
              <a:t>choose the decode dataflow, then build the blocks around the array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Where the PE array fits</a:t>
            </a:r>
          </a:p>
        </p:txBody>
      </p:sp>
      <p:sp>
        <p:nvSpPr>
          <p:cNvPr id="3" name="Lead"/>
          <p:cNvSpPr txBox="1"/>
          <p:nvPr/>
        </p:nvSpPr>
        <p:spPr>
          <a:xfrm>
            <a:off x="393192" y="1161288"/>
            <a:ext cx="8321040" cy="384048"/>
          </a:xfrm>
          <a:prstGeom prst="rect">
            <a:avLst/>
          </a:prstGeom>
          <a:noFill/>
        </p:spPr>
        <p:txBody>
          <a:bodyPr wrap="square" lIns="0" tIns="0" rIns="0" bIns="0" anchor="t">
            <a:spAutoFit/>
          </a:bodyPr>
          <a:lstStyle/>
          <a:p>
            <a:pPr algn="l"/>
            <a:r>
              <a:rPr sz="1600" b="0" i="0">
                <a:solidFill>
                  <a:schemeClr val="dk1"/>
                </a:solidFill>
                <a:latin typeface="DM Sans"/>
              </a:rPr>
              <a:t>The first matrix-unit block is in RTL: the PE array, which does the math.</a:t>
            </a:r>
          </a:p>
        </p:txBody>
      </p:sp>
      <p:sp>
        <p:nvSpPr>
          <p:cNvPr id="4" name="Stage 1"/>
          <p:cNvSpPr/>
          <p:nvPr/>
        </p:nvSpPr>
        <p:spPr>
          <a:xfrm>
            <a:off x="420624" y="1783080"/>
            <a:ext cx="1426464" cy="777240"/>
          </a:xfrm>
          <a:prstGeom prst="roundRect">
            <a:avLst>
              <a:gd name="adj" fmla="val 8000"/>
            </a:avLst>
          </a:prstGeom>
          <a:solidFill>
            <a:schemeClr val="lt2"/>
          </a:solidFill>
          <a:ln w="12700">
            <a:solidFill>
              <a:schemeClr val="accent5"/>
            </a:solidFill>
          </a:ln>
        </p:spPr>
        <p:txBody>
          <a:bodyPr wrap="square" lIns="73152" tIns="73152" rIns="73152" bIns="73152" rtlCol="0" anchor="ctr"/>
          <a:lstStyle/>
          <a:p>
            <a:pPr algn="ctr"/>
            <a:r>
              <a:rPr sz="1300" b="1" i="0">
                <a:solidFill>
                  <a:schemeClr val="dk2"/>
                </a:solidFill>
                <a:latin typeface="DM Sans"/>
              </a:rPr>
              <a:t>SRAM reads</a:t>
            </a:r>
          </a:p>
        </p:txBody>
      </p:sp>
      <p:sp>
        <p:nvSpPr>
          <p:cNvPr id="5" name="TextBox 4"/>
          <p:cNvSpPr txBox="1"/>
          <p:nvPr/>
        </p:nvSpPr>
        <p:spPr>
          <a:xfrm>
            <a:off x="420624" y="2633472"/>
            <a:ext cx="1426464" cy="256032"/>
          </a:xfrm>
          <a:prstGeom prst="rect">
            <a:avLst/>
          </a:prstGeom>
          <a:noFill/>
        </p:spPr>
        <p:txBody>
          <a:bodyPr wrap="square" lIns="0" tIns="0" rIns="0" bIns="0" anchor="t">
            <a:spAutoFit/>
          </a:bodyPr>
          <a:lstStyle/>
          <a:p>
            <a:pPr algn="ctr"/>
            <a:r>
              <a:rPr sz="1200" b="0" i="0">
                <a:solidFill>
                  <a:schemeClr val="dk2"/>
                </a:solidFill>
                <a:latin typeface="DM Sans"/>
              </a:rPr>
              <a:t>To build</a:t>
            </a:r>
          </a:p>
        </p:txBody>
      </p:sp>
      <p:cxnSp>
        <p:nvCxnSpPr>
          <p:cNvPr id="6" name="Connector 5"/>
          <p:cNvCxnSpPr/>
          <p:nvPr/>
        </p:nvCxnSpPr>
        <p:spPr>
          <a:xfrm>
            <a:off x="1883664" y="2171700"/>
            <a:ext cx="219456" cy="0"/>
          </a:xfrm>
          <a:prstGeom prst="line">
            <a:avLst/>
          </a:prstGeom>
          <a:ln w="15875">
            <a:solidFill>
              <a:schemeClr val="dk2"/>
            </a:solidFill>
            <a:tailEnd type="triangle" w="med" len="med"/>
          </a:ln>
        </p:spPr>
      </p:cxnSp>
      <p:sp>
        <p:nvSpPr>
          <p:cNvPr id="7" name="Stage 2"/>
          <p:cNvSpPr/>
          <p:nvPr/>
        </p:nvSpPr>
        <p:spPr>
          <a:xfrm>
            <a:off x="2139696" y="1783080"/>
            <a:ext cx="1426464" cy="777240"/>
          </a:xfrm>
          <a:prstGeom prst="roundRect">
            <a:avLst>
              <a:gd name="adj" fmla="val 8000"/>
            </a:avLst>
          </a:prstGeom>
          <a:solidFill>
            <a:schemeClr val="lt2"/>
          </a:solidFill>
          <a:ln w="12700">
            <a:solidFill>
              <a:schemeClr val="accent5"/>
            </a:solidFill>
          </a:ln>
        </p:spPr>
        <p:txBody>
          <a:bodyPr wrap="square" lIns="73152" tIns="73152" rIns="73152" bIns="73152" rtlCol="0" anchor="ctr"/>
          <a:lstStyle/>
          <a:p>
            <a:pPr algn="ctr"/>
            <a:r>
              <a:rPr sz="1300" b="1" i="0">
                <a:solidFill>
                  <a:schemeClr val="dk2"/>
                </a:solidFill>
                <a:latin typeface="DM Sans"/>
              </a:rPr>
              <a:t>Stage and unpack</a:t>
            </a:r>
          </a:p>
        </p:txBody>
      </p:sp>
      <p:sp>
        <p:nvSpPr>
          <p:cNvPr id="8" name="TextBox 7"/>
          <p:cNvSpPr txBox="1"/>
          <p:nvPr/>
        </p:nvSpPr>
        <p:spPr>
          <a:xfrm>
            <a:off x="2139696" y="2633472"/>
            <a:ext cx="1426464" cy="256032"/>
          </a:xfrm>
          <a:prstGeom prst="rect">
            <a:avLst/>
          </a:prstGeom>
          <a:noFill/>
        </p:spPr>
        <p:txBody>
          <a:bodyPr wrap="square" lIns="0" tIns="0" rIns="0" bIns="0" anchor="t">
            <a:spAutoFit/>
          </a:bodyPr>
          <a:lstStyle/>
          <a:p>
            <a:pPr algn="ctr"/>
            <a:r>
              <a:rPr sz="1200" b="0" i="0">
                <a:solidFill>
                  <a:schemeClr val="dk2"/>
                </a:solidFill>
                <a:latin typeface="DM Sans"/>
              </a:rPr>
              <a:t>To build</a:t>
            </a:r>
          </a:p>
        </p:txBody>
      </p:sp>
      <p:cxnSp>
        <p:nvCxnSpPr>
          <p:cNvPr id="9" name="Connector 8"/>
          <p:cNvCxnSpPr/>
          <p:nvPr/>
        </p:nvCxnSpPr>
        <p:spPr>
          <a:xfrm>
            <a:off x="3602736" y="2171700"/>
            <a:ext cx="219456" cy="0"/>
          </a:xfrm>
          <a:prstGeom prst="line">
            <a:avLst/>
          </a:prstGeom>
          <a:ln w="15875">
            <a:solidFill>
              <a:schemeClr val="dk2"/>
            </a:solidFill>
            <a:tailEnd type="triangle" w="med" len="med"/>
          </a:ln>
        </p:spPr>
      </p:cxnSp>
      <p:sp>
        <p:nvSpPr>
          <p:cNvPr id="10" name="Stage 3"/>
          <p:cNvSpPr/>
          <p:nvPr/>
        </p:nvSpPr>
        <p:spPr>
          <a:xfrm>
            <a:off x="3858768" y="1783080"/>
            <a:ext cx="1426464" cy="777240"/>
          </a:xfrm>
          <a:prstGeom prst="roundRect">
            <a:avLst>
              <a:gd name="adj" fmla="val 8000"/>
            </a:avLst>
          </a:prstGeom>
          <a:solidFill>
            <a:schemeClr val="accent1"/>
          </a:solidFill>
          <a:ln w="12700">
            <a:solidFill>
              <a:schemeClr val="accent1"/>
            </a:solidFill>
          </a:ln>
        </p:spPr>
        <p:txBody>
          <a:bodyPr wrap="square" lIns="73152" tIns="73152" rIns="73152" bIns="73152" rtlCol="0" anchor="ctr"/>
          <a:lstStyle/>
          <a:p>
            <a:pPr algn="ctr"/>
            <a:r>
              <a:rPr sz="1300" b="1" i="0">
                <a:solidFill>
                  <a:schemeClr val="dk1"/>
                </a:solidFill>
                <a:latin typeface="DM Sans"/>
              </a:rPr>
              <a:t>PE array</a:t>
            </a:r>
          </a:p>
        </p:txBody>
      </p:sp>
      <p:sp>
        <p:nvSpPr>
          <p:cNvPr id="11" name="TextBox 10"/>
          <p:cNvSpPr txBox="1"/>
          <p:nvPr/>
        </p:nvSpPr>
        <p:spPr>
          <a:xfrm>
            <a:off x="3858768" y="2633472"/>
            <a:ext cx="1426464" cy="256032"/>
          </a:xfrm>
          <a:prstGeom prst="rect">
            <a:avLst/>
          </a:prstGeom>
          <a:noFill/>
        </p:spPr>
        <p:txBody>
          <a:bodyPr wrap="square" lIns="0" tIns="0" rIns="0" bIns="0" anchor="t">
            <a:spAutoFit/>
          </a:bodyPr>
          <a:lstStyle/>
          <a:p>
            <a:pPr algn="ctr"/>
            <a:r>
              <a:rPr sz="1200" b="1" i="0">
                <a:solidFill>
                  <a:schemeClr val="accent4"/>
                </a:solidFill>
                <a:latin typeface="DM Sans"/>
              </a:rPr>
              <a:t>Shipped</a:t>
            </a:r>
          </a:p>
        </p:txBody>
      </p:sp>
      <p:cxnSp>
        <p:nvCxnSpPr>
          <p:cNvPr id="12" name="Connector 11"/>
          <p:cNvCxnSpPr/>
          <p:nvPr/>
        </p:nvCxnSpPr>
        <p:spPr>
          <a:xfrm>
            <a:off x="5321808" y="2171700"/>
            <a:ext cx="219456" cy="0"/>
          </a:xfrm>
          <a:prstGeom prst="line">
            <a:avLst/>
          </a:prstGeom>
          <a:ln w="15875">
            <a:solidFill>
              <a:schemeClr val="dk2"/>
            </a:solidFill>
            <a:tailEnd type="triangle" w="med" len="med"/>
          </a:ln>
        </p:spPr>
      </p:cxnSp>
      <p:sp>
        <p:nvSpPr>
          <p:cNvPr id="13" name="Stage 4"/>
          <p:cNvSpPr/>
          <p:nvPr/>
        </p:nvSpPr>
        <p:spPr>
          <a:xfrm>
            <a:off x="5577840" y="1783080"/>
            <a:ext cx="1426464" cy="777240"/>
          </a:xfrm>
          <a:prstGeom prst="roundRect">
            <a:avLst>
              <a:gd name="adj" fmla="val 8000"/>
            </a:avLst>
          </a:prstGeom>
          <a:solidFill>
            <a:schemeClr val="lt2"/>
          </a:solidFill>
          <a:ln w="12700">
            <a:solidFill>
              <a:schemeClr val="accent5"/>
            </a:solidFill>
          </a:ln>
        </p:spPr>
        <p:txBody>
          <a:bodyPr wrap="square" lIns="73152" tIns="73152" rIns="73152" bIns="73152" rtlCol="0" anchor="ctr"/>
          <a:lstStyle/>
          <a:p>
            <a:pPr algn="ctr"/>
            <a:r>
              <a:rPr sz="1300" b="1" i="0">
                <a:solidFill>
                  <a:schemeClr val="dk2"/>
                </a:solidFill>
                <a:latin typeface="DM Sans"/>
              </a:rPr>
              <a:t>Accumulate and stage</a:t>
            </a:r>
          </a:p>
        </p:txBody>
      </p:sp>
      <p:sp>
        <p:nvSpPr>
          <p:cNvPr id="14" name="TextBox 13"/>
          <p:cNvSpPr txBox="1"/>
          <p:nvPr/>
        </p:nvSpPr>
        <p:spPr>
          <a:xfrm>
            <a:off x="5577840" y="2633472"/>
            <a:ext cx="1426464" cy="256032"/>
          </a:xfrm>
          <a:prstGeom prst="rect">
            <a:avLst/>
          </a:prstGeom>
          <a:noFill/>
        </p:spPr>
        <p:txBody>
          <a:bodyPr wrap="square" lIns="0" tIns="0" rIns="0" bIns="0" anchor="t">
            <a:spAutoFit/>
          </a:bodyPr>
          <a:lstStyle/>
          <a:p>
            <a:pPr algn="ctr"/>
            <a:r>
              <a:rPr sz="1200" b="0" i="0">
                <a:solidFill>
                  <a:schemeClr val="dk2"/>
                </a:solidFill>
                <a:latin typeface="DM Sans"/>
              </a:rPr>
              <a:t>To build</a:t>
            </a:r>
          </a:p>
        </p:txBody>
      </p:sp>
      <p:cxnSp>
        <p:nvCxnSpPr>
          <p:cNvPr id="15" name="Connector 14"/>
          <p:cNvCxnSpPr/>
          <p:nvPr/>
        </p:nvCxnSpPr>
        <p:spPr>
          <a:xfrm>
            <a:off x="7040880" y="2171700"/>
            <a:ext cx="219456" cy="0"/>
          </a:xfrm>
          <a:prstGeom prst="line">
            <a:avLst/>
          </a:prstGeom>
          <a:ln w="15875">
            <a:solidFill>
              <a:schemeClr val="dk2"/>
            </a:solidFill>
            <a:tailEnd type="triangle" w="med" len="med"/>
          </a:ln>
        </p:spPr>
      </p:cxnSp>
      <p:sp>
        <p:nvSpPr>
          <p:cNvPr id="16" name="Stage 5"/>
          <p:cNvSpPr/>
          <p:nvPr/>
        </p:nvSpPr>
        <p:spPr>
          <a:xfrm>
            <a:off x="7296912" y="1783080"/>
            <a:ext cx="1426464" cy="777240"/>
          </a:xfrm>
          <a:prstGeom prst="roundRect">
            <a:avLst>
              <a:gd name="adj" fmla="val 8000"/>
            </a:avLst>
          </a:prstGeom>
          <a:solidFill>
            <a:schemeClr val="lt2"/>
          </a:solidFill>
          <a:ln w="12700">
            <a:solidFill>
              <a:schemeClr val="accent5"/>
            </a:solidFill>
          </a:ln>
        </p:spPr>
        <p:txBody>
          <a:bodyPr wrap="square" lIns="73152" tIns="73152" rIns="73152" bIns="73152" rtlCol="0" anchor="ctr"/>
          <a:lstStyle/>
          <a:p>
            <a:pPr algn="ctr"/>
            <a:r>
              <a:rPr sz="1300" b="1" i="0">
                <a:solidFill>
                  <a:schemeClr val="dk2"/>
                </a:solidFill>
                <a:latin typeface="DM Sans"/>
              </a:rPr>
              <a:t>SRAM writes</a:t>
            </a:r>
          </a:p>
        </p:txBody>
      </p:sp>
      <p:sp>
        <p:nvSpPr>
          <p:cNvPr id="17" name="TextBox 16"/>
          <p:cNvSpPr txBox="1"/>
          <p:nvPr/>
        </p:nvSpPr>
        <p:spPr>
          <a:xfrm>
            <a:off x="7296912" y="2633472"/>
            <a:ext cx="1426464" cy="256032"/>
          </a:xfrm>
          <a:prstGeom prst="rect">
            <a:avLst/>
          </a:prstGeom>
          <a:noFill/>
        </p:spPr>
        <p:txBody>
          <a:bodyPr wrap="square" lIns="0" tIns="0" rIns="0" bIns="0" anchor="t">
            <a:spAutoFit/>
          </a:bodyPr>
          <a:lstStyle/>
          <a:p>
            <a:pPr algn="ctr"/>
            <a:r>
              <a:rPr sz="1200" b="0" i="0">
                <a:solidFill>
                  <a:schemeClr val="dk2"/>
                </a:solidFill>
                <a:latin typeface="DM Sans"/>
              </a:rPr>
              <a:t>To build</a:t>
            </a:r>
          </a:p>
        </p:txBody>
      </p:sp>
      <p:sp>
        <p:nvSpPr>
          <p:cNvPr id="18" name="Rounded Rectangle 17"/>
          <p:cNvSpPr/>
          <p:nvPr/>
        </p:nvSpPr>
        <p:spPr>
          <a:xfrm>
            <a:off x="420624" y="3063240"/>
            <a:ext cx="4041648" cy="1371600"/>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19" name="TextBox 18"/>
          <p:cNvSpPr txBox="1"/>
          <p:nvPr/>
        </p:nvSpPr>
        <p:spPr>
          <a:xfrm>
            <a:off x="603504" y="3246120"/>
            <a:ext cx="3675887" cy="292608"/>
          </a:xfrm>
          <a:prstGeom prst="rect">
            <a:avLst/>
          </a:prstGeom>
          <a:noFill/>
        </p:spPr>
        <p:txBody>
          <a:bodyPr wrap="square" lIns="0" tIns="0" rIns="0" bIns="0" anchor="t">
            <a:spAutoFit/>
          </a:bodyPr>
          <a:lstStyle/>
          <a:p>
            <a:pPr algn="l"/>
            <a:r>
              <a:rPr sz="1400" b="1" i="0">
                <a:solidFill>
                  <a:schemeClr val="accent4"/>
                </a:solidFill>
                <a:latin typeface="DM Sans"/>
              </a:rPr>
              <a:t>In bpu_sa_array today</a:t>
            </a:r>
          </a:p>
        </p:txBody>
      </p:sp>
      <p:sp>
        <p:nvSpPr>
          <p:cNvPr id="20" name="TextBox 19"/>
          <p:cNvSpPr txBox="1"/>
          <p:nvPr/>
        </p:nvSpPr>
        <p:spPr>
          <a:xfrm>
            <a:off x="603504" y="3630168"/>
            <a:ext cx="3675887" cy="685800"/>
          </a:xfrm>
          <a:prstGeom prst="rect">
            <a:avLst/>
          </a:prstGeom>
          <a:noFill/>
        </p:spPr>
        <p:txBody>
          <a:bodyPr wrap="square" lIns="0" tIns="0" rIns="0" bIns="0" anchor="t">
            <a:spAutoFit/>
          </a:bodyPr>
          <a:lstStyle/>
          <a:p>
            <a:pPr marL="182880" indent="-182880" algn="l">
              <a:spcAft>
                <a:spcPts val="400"/>
              </a:spcAft>
              <a:buClr>
                <a:schemeClr val="accent1"/>
              </a:buClr>
              <a:buSzPct val="100000"/>
              <a:buFont typeface="Arial"/>
              <a:buChar char="•"/>
            </a:pPr>
            <a:r>
              <a:rPr sz="1250" b="0" i="0">
                <a:solidFill>
                  <a:schemeClr val="dk1"/>
                </a:solidFill>
                <a:latin typeface="DM Sans"/>
              </a:rPr>
              <a:t>Exact int8 × int8 products, INT32 sums</a:t>
            </a:r>
          </a:p>
          <a:p>
            <a:pPr marL="182880" indent="-182880" algn="l">
              <a:spcAft>
                <a:spcPts val="400"/>
              </a:spcAft>
              <a:buClr>
                <a:schemeClr val="accent1"/>
              </a:buClr>
              <a:buSzPct val="100000"/>
              <a:buFont typeface="Arial"/>
              <a:buChar char="•"/>
            </a:pPr>
            <a:r>
              <a:rPr sz="1250" b="0" i="0">
                <a:solidFill>
                  <a:schemeClr val="dk1"/>
                </a:solidFill>
                <a:latin typeface="DM Sans"/>
              </a:rPr>
              <a:t>A tile held in the PEs, double-buffered</a:t>
            </a:r>
          </a:p>
          <a:p>
            <a:pPr marL="182880" indent="-182880" algn="l">
              <a:spcAft>
                <a:spcPts val="400"/>
              </a:spcAft>
              <a:buClr>
                <a:schemeClr val="accent1"/>
              </a:buClr>
              <a:buSzPct val="100000"/>
              <a:buFont typeface="Arial"/>
              <a:buChar char="•"/>
            </a:pPr>
            <a:r>
              <a:rPr sz="1250" b="0" i="0">
                <a:solidFill>
                  <a:schemeClr val="dk1"/>
                </a:solidFill>
                <a:latin typeface="DM Sans"/>
              </a:rPr>
              <a:t>8 × 8 default: 64 multiply-adds per cycle</a:t>
            </a:r>
          </a:p>
        </p:txBody>
      </p:sp>
      <p:sp>
        <p:nvSpPr>
          <p:cNvPr id="21" name="Rounded Rectangle 20"/>
          <p:cNvSpPr/>
          <p:nvPr/>
        </p:nvSpPr>
        <p:spPr>
          <a:xfrm>
            <a:off x="4681728" y="3063240"/>
            <a:ext cx="4041648" cy="1371600"/>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22" name="TextBox 21"/>
          <p:cNvSpPr txBox="1"/>
          <p:nvPr/>
        </p:nvSpPr>
        <p:spPr>
          <a:xfrm>
            <a:off x="4864608" y="3246120"/>
            <a:ext cx="3675887" cy="292608"/>
          </a:xfrm>
          <a:prstGeom prst="rect">
            <a:avLst/>
          </a:prstGeom>
          <a:noFill/>
        </p:spPr>
        <p:txBody>
          <a:bodyPr wrap="square" lIns="0" tIns="0" rIns="0" bIns="0" anchor="t">
            <a:spAutoFit/>
          </a:bodyPr>
          <a:lstStyle/>
          <a:p>
            <a:pPr algn="l"/>
            <a:r>
              <a:rPr sz="1400" b="1" i="0">
                <a:solidFill>
                  <a:schemeClr val="accent4"/>
                </a:solidFill>
                <a:latin typeface="DM Sans"/>
              </a:rPr>
              <a:t>Still to build around it</a:t>
            </a:r>
          </a:p>
        </p:txBody>
      </p:sp>
      <p:sp>
        <p:nvSpPr>
          <p:cNvPr id="23" name="TextBox 22"/>
          <p:cNvSpPr txBox="1"/>
          <p:nvPr/>
        </p:nvSpPr>
        <p:spPr>
          <a:xfrm>
            <a:off x="4864608" y="3630168"/>
            <a:ext cx="3675887" cy="685800"/>
          </a:xfrm>
          <a:prstGeom prst="rect">
            <a:avLst/>
          </a:prstGeom>
          <a:noFill/>
        </p:spPr>
        <p:txBody>
          <a:bodyPr wrap="square" lIns="0" tIns="0" rIns="0" bIns="0" anchor="t">
            <a:spAutoFit/>
          </a:bodyPr>
          <a:lstStyle/>
          <a:p>
            <a:pPr marL="182880" indent="-182880" algn="l">
              <a:spcAft>
                <a:spcPts val="400"/>
              </a:spcAft>
              <a:buClr>
                <a:schemeClr val="accent1"/>
              </a:buClr>
              <a:buSzPct val="100000"/>
              <a:buFont typeface="Arial"/>
              <a:buChar char="•"/>
            </a:pPr>
            <a:r>
              <a:rPr sz="1250" b="0" i="0">
                <a:solidFill>
                  <a:schemeClr val="dk1"/>
                </a:solidFill>
                <a:latin typeface="DM Sans"/>
              </a:rPr>
              <a:t>Commands, sequencing, completion and errors</a:t>
            </a:r>
          </a:p>
          <a:p>
            <a:pPr marL="182880" indent="-182880" algn="l">
              <a:spcAft>
                <a:spcPts val="400"/>
              </a:spcAft>
              <a:buClr>
                <a:schemeClr val="accent1"/>
              </a:buClr>
              <a:buSzPct val="100000"/>
              <a:buFont typeface="Arial"/>
              <a:buChar char="•"/>
            </a:pPr>
            <a:r>
              <a:rPr sz="1250" b="0" i="0">
                <a:solidFill>
                  <a:schemeClr val="dk1"/>
                </a:solidFill>
                <a:latin typeface="DM Sans"/>
              </a:rPr>
              <a:t>SRAM fetch and write-back; summing across K</a:t>
            </a:r>
          </a:p>
          <a:p>
            <a:pPr marL="182880" indent="-182880" algn="l">
              <a:spcAft>
                <a:spcPts val="400"/>
              </a:spcAft>
              <a:buClr>
                <a:schemeClr val="accent1"/>
              </a:buClr>
              <a:buSzPct val="100000"/>
              <a:buFont typeface="Arial"/>
              <a:buChar char="•"/>
            </a:pPr>
            <a:r>
              <a:rPr sz="1250" b="0" i="0">
                <a:solidFill>
                  <a:schemeClr val="dk1"/>
                </a:solidFill>
                <a:latin typeface="DM Sans"/>
              </a:rPr>
              <a:t>INT4 mode, Q8.24 profiles, block scaling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How the systolic array works</a:t>
            </a:r>
          </a:p>
        </p:txBody>
      </p:sp>
      <p:sp>
        <p:nvSpPr>
          <p:cNvPr id="3" name="Lead"/>
          <p:cNvSpPr txBox="1"/>
          <p:nvPr/>
        </p:nvSpPr>
        <p:spPr>
          <a:xfrm>
            <a:off x="393192" y="1161288"/>
            <a:ext cx="8321040" cy="384048"/>
          </a:xfrm>
          <a:prstGeom prst="rect">
            <a:avLst/>
          </a:prstGeom>
          <a:noFill/>
        </p:spPr>
        <p:txBody>
          <a:bodyPr wrap="square" lIns="0" tIns="0" rIns="0" bIns="0" anchor="t">
            <a:spAutoFit/>
          </a:bodyPr>
          <a:lstStyle/>
          <a:p>
            <a:pPr algn="l"/>
            <a:r>
              <a:rPr sz="1600" b="0" i="0">
                <a:solidFill>
                  <a:schemeClr val="dk1"/>
                </a:solidFill>
                <a:latin typeface="DM Sans"/>
              </a:rPr>
              <a:t>A stays in the PEs, B streams down, and partial sums move right.</a:t>
            </a:r>
          </a:p>
        </p:txBody>
      </p:sp>
      <p:sp>
        <p:nvSpPr>
          <p:cNvPr id="4" name="TextBox 3"/>
          <p:cNvSpPr txBox="1"/>
          <p:nvPr/>
        </p:nvSpPr>
        <p:spPr>
          <a:xfrm>
            <a:off x="1042415" y="1673352"/>
            <a:ext cx="548640" cy="201168"/>
          </a:xfrm>
          <a:prstGeom prst="rect">
            <a:avLst/>
          </a:prstGeom>
          <a:noFill/>
        </p:spPr>
        <p:txBody>
          <a:bodyPr wrap="square" lIns="0" tIns="0" rIns="0" bIns="0" anchor="t">
            <a:spAutoFit/>
          </a:bodyPr>
          <a:lstStyle/>
          <a:p>
            <a:pPr algn="ctr"/>
            <a:r>
              <a:rPr sz="1100" b="0" i="0">
                <a:solidFill>
                  <a:schemeClr val="dk2"/>
                </a:solidFill>
                <a:latin typeface="DM Sans"/>
              </a:rPr>
              <a:t>B[0]</a:t>
            </a:r>
          </a:p>
        </p:txBody>
      </p:sp>
      <p:cxnSp>
        <p:nvCxnSpPr>
          <p:cNvPr id="5" name="Connector 4"/>
          <p:cNvCxnSpPr/>
          <p:nvPr/>
        </p:nvCxnSpPr>
        <p:spPr>
          <a:xfrm>
            <a:off x="1316736" y="1901952"/>
            <a:ext cx="0" cy="411480"/>
          </a:xfrm>
          <a:prstGeom prst="line">
            <a:avLst/>
          </a:prstGeom>
          <a:ln w="15875">
            <a:solidFill>
              <a:schemeClr val="dk2"/>
            </a:solidFill>
            <a:tailEnd type="triangle" w="med" len="med"/>
          </a:ln>
        </p:spPr>
      </p:cxnSp>
      <p:sp>
        <p:nvSpPr>
          <p:cNvPr id="6" name="TextBox 5"/>
          <p:cNvSpPr txBox="1"/>
          <p:nvPr/>
        </p:nvSpPr>
        <p:spPr>
          <a:xfrm>
            <a:off x="2048256" y="1673352"/>
            <a:ext cx="548640" cy="201168"/>
          </a:xfrm>
          <a:prstGeom prst="rect">
            <a:avLst/>
          </a:prstGeom>
          <a:noFill/>
        </p:spPr>
        <p:txBody>
          <a:bodyPr wrap="square" lIns="0" tIns="0" rIns="0" bIns="0" anchor="t">
            <a:spAutoFit/>
          </a:bodyPr>
          <a:lstStyle/>
          <a:p>
            <a:pPr algn="ctr"/>
            <a:r>
              <a:rPr sz="1100" b="0" i="0">
                <a:solidFill>
                  <a:schemeClr val="dk2"/>
                </a:solidFill>
                <a:latin typeface="DM Sans"/>
              </a:rPr>
              <a:t>B[1]</a:t>
            </a:r>
          </a:p>
        </p:txBody>
      </p:sp>
      <p:cxnSp>
        <p:nvCxnSpPr>
          <p:cNvPr id="7" name="Connector 6"/>
          <p:cNvCxnSpPr/>
          <p:nvPr/>
        </p:nvCxnSpPr>
        <p:spPr>
          <a:xfrm>
            <a:off x="2322576" y="1901952"/>
            <a:ext cx="0" cy="411480"/>
          </a:xfrm>
          <a:prstGeom prst="line">
            <a:avLst/>
          </a:prstGeom>
          <a:ln w="15875">
            <a:solidFill>
              <a:schemeClr val="dk2"/>
            </a:solidFill>
            <a:tailEnd type="triangle" w="med" len="med"/>
          </a:ln>
        </p:spPr>
      </p:cxnSp>
      <p:sp>
        <p:nvSpPr>
          <p:cNvPr id="8" name="TextBox 7"/>
          <p:cNvSpPr txBox="1"/>
          <p:nvPr/>
        </p:nvSpPr>
        <p:spPr>
          <a:xfrm>
            <a:off x="3054096" y="1673352"/>
            <a:ext cx="548640" cy="201168"/>
          </a:xfrm>
          <a:prstGeom prst="rect">
            <a:avLst/>
          </a:prstGeom>
          <a:noFill/>
        </p:spPr>
        <p:txBody>
          <a:bodyPr wrap="square" lIns="0" tIns="0" rIns="0" bIns="0" anchor="t">
            <a:spAutoFit/>
          </a:bodyPr>
          <a:lstStyle/>
          <a:p>
            <a:pPr algn="ctr"/>
            <a:r>
              <a:rPr sz="1100" b="0" i="0">
                <a:solidFill>
                  <a:schemeClr val="dk2"/>
                </a:solidFill>
                <a:latin typeface="DM Sans"/>
              </a:rPr>
              <a:t>B[2]</a:t>
            </a:r>
          </a:p>
        </p:txBody>
      </p:sp>
      <p:cxnSp>
        <p:nvCxnSpPr>
          <p:cNvPr id="9" name="Connector 8"/>
          <p:cNvCxnSpPr/>
          <p:nvPr/>
        </p:nvCxnSpPr>
        <p:spPr>
          <a:xfrm>
            <a:off x="3328416" y="1901952"/>
            <a:ext cx="0" cy="411480"/>
          </a:xfrm>
          <a:prstGeom prst="line">
            <a:avLst/>
          </a:prstGeom>
          <a:ln w="15875">
            <a:solidFill>
              <a:schemeClr val="dk2"/>
            </a:solidFill>
            <a:tailEnd type="triangle" w="med" len="med"/>
          </a:ln>
        </p:spPr>
      </p:cxnSp>
      <p:sp>
        <p:nvSpPr>
          <p:cNvPr id="10" name="Rectangle 9"/>
          <p:cNvSpPr/>
          <p:nvPr/>
        </p:nvSpPr>
        <p:spPr>
          <a:xfrm>
            <a:off x="2203704" y="2048256"/>
            <a:ext cx="237744" cy="155448"/>
          </a:xfrm>
          <a:prstGeom prst="rect">
            <a:avLst/>
          </a:prstGeom>
          <a:solidFill>
            <a:schemeClr val="lt1"/>
          </a:solidFill>
          <a:ln w="9525">
            <a:solidFill>
              <a:schemeClr val="dk2"/>
            </a:solidFill>
          </a:ln>
        </p:spPr>
        <p:txBody>
          <a:bodyPr wrap="square" lIns="0" tIns="0" rIns="0" bIns="0" rtlCol="0" anchor="ctr"/>
          <a:lstStyle/>
          <a:p>
            <a:pPr algn="ctr"/>
            <a:r>
              <a:rPr sz="1000" b="0" i="0">
                <a:solidFill>
                  <a:schemeClr val="dk2"/>
                </a:solidFill>
                <a:latin typeface="DM Sans"/>
              </a:rPr>
              <a:t>D</a:t>
            </a:r>
          </a:p>
        </p:txBody>
      </p:sp>
      <p:sp>
        <p:nvSpPr>
          <p:cNvPr id="11" name="Rectangle 10"/>
          <p:cNvSpPr/>
          <p:nvPr/>
        </p:nvSpPr>
        <p:spPr>
          <a:xfrm>
            <a:off x="3209544" y="1938528"/>
            <a:ext cx="237744" cy="155448"/>
          </a:xfrm>
          <a:prstGeom prst="rect">
            <a:avLst/>
          </a:prstGeom>
          <a:solidFill>
            <a:schemeClr val="lt1"/>
          </a:solidFill>
          <a:ln w="9525">
            <a:solidFill>
              <a:schemeClr val="dk2"/>
            </a:solidFill>
          </a:ln>
        </p:spPr>
        <p:txBody>
          <a:bodyPr wrap="square" lIns="0" tIns="0" rIns="0" bIns="0" rtlCol="0" anchor="ctr"/>
          <a:lstStyle/>
          <a:p>
            <a:pPr algn="ctr"/>
            <a:r>
              <a:rPr sz="1000" b="0" i="0">
                <a:solidFill>
                  <a:schemeClr val="dk2"/>
                </a:solidFill>
                <a:latin typeface="DM Sans"/>
              </a:rPr>
              <a:t>D</a:t>
            </a:r>
          </a:p>
        </p:txBody>
      </p:sp>
      <p:sp>
        <p:nvSpPr>
          <p:cNvPr id="12" name="Rectangle 11"/>
          <p:cNvSpPr/>
          <p:nvPr/>
        </p:nvSpPr>
        <p:spPr>
          <a:xfrm>
            <a:off x="3209544" y="2130552"/>
            <a:ext cx="237744" cy="155448"/>
          </a:xfrm>
          <a:prstGeom prst="rect">
            <a:avLst/>
          </a:prstGeom>
          <a:solidFill>
            <a:schemeClr val="lt1"/>
          </a:solidFill>
          <a:ln w="9525">
            <a:solidFill>
              <a:schemeClr val="dk2"/>
            </a:solidFill>
          </a:ln>
        </p:spPr>
        <p:txBody>
          <a:bodyPr wrap="square" lIns="0" tIns="0" rIns="0" bIns="0" rtlCol="0" anchor="ctr"/>
          <a:lstStyle/>
          <a:p>
            <a:pPr algn="ctr"/>
            <a:r>
              <a:rPr sz="1000" b="0" i="0">
                <a:solidFill>
                  <a:schemeClr val="dk2"/>
                </a:solidFill>
                <a:latin typeface="DM Sans"/>
              </a:rPr>
              <a:t>D</a:t>
            </a:r>
          </a:p>
        </p:txBody>
      </p:sp>
      <p:sp>
        <p:nvSpPr>
          <p:cNvPr id="13" name="TextBox 12"/>
          <p:cNvSpPr txBox="1"/>
          <p:nvPr/>
        </p:nvSpPr>
        <p:spPr>
          <a:xfrm>
            <a:off x="4224528" y="1847088"/>
            <a:ext cx="1463040" cy="201168"/>
          </a:xfrm>
          <a:prstGeom prst="rect">
            <a:avLst/>
          </a:prstGeom>
          <a:noFill/>
        </p:spPr>
        <p:txBody>
          <a:bodyPr wrap="square" lIns="0" tIns="0" rIns="0" bIns="0" anchor="t">
            <a:spAutoFit/>
          </a:bodyPr>
          <a:lstStyle/>
          <a:p>
            <a:pPr algn="l"/>
            <a:r>
              <a:rPr sz="1000" b="0" i="0">
                <a:solidFill>
                  <a:schemeClr val="dk2"/>
                </a:solidFill>
                <a:latin typeface="DM Sans"/>
              </a:rPr>
              <a:t>D = one-cycle delay</a:t>
            </a:r>
          </a:p>
        </p:txBody>
      </p:sp>
      <p:sp>
        <p:nvSpPr>
          <p:cNvPr id="14" name="TextBox 13"/>
          <p:cNvSpPr txBox="1"/>
          <p:nvPr/>
        </p:nvSpPr>
        <p:spPr>
          <a:xfrm>
            <a:off x="502920" y="2473451"/>
            <a:ext cx="228600" cy="219456"/>
          </a:xfrm>
          <a:prstGeom prst="rect">
            <a:avLst/>
          </a:prstGeom>
          <a:noFill/>
        </p:spPr>
        <p:txBody>
          <a:bodyPr wrap="square" lIns="0" tIns="0" rIns="0" bIns="0" anchor="t">
            <a:spAutoFit/>
          </a:bodyPr>
          <a:lstStyle/>
          <a:p>
            <a:pPr algn="ctr"/>
            <a:r>
              <a:rPr sz="1100" b="0" i="0">
                <a:solidFill>
                  <a:schemeClr val="dk2"/>
                </a:solidFill>
                <a:latin typeface="DM Sans"/>
              </a:rPr>
              <a:t>0</a:t>
            </a:r>
          </a:p>
        </p:txBody>
      </p:sp>
      <p:cxnSp>
        <p:nvCxnSpPr>
          <p:cNvPr id="15" name="Connector 14"/>
          <p:cNvCxnSpPr/>
          <p:nvPr/>
        </p:nvCxnSpPr>
        <p:spPr>
          <a:xfrm>
            <a:off x="731520" y="2583179"/>
            <a:ext cx="210312" cy="0"/>
          </a:xfrm>
          <a:prstGeom prst="line">
            <a:avLst/>
          </a:prstGeom>
          <a:ln w="15875">
            <a:solidFill>
              <a:schemeClr val="dk2"/>
            </a:solidFill>
            <a:tailEnd type="triangle" w="med" len="med"/>
          </a:ln>
        </p:spPr>
      </p:cxnSp>
      <p:sp>
        <p:nvSpPr>
          <p:cNvPr id="16" name="PE 0,0"/>
          <p:cNvSpPr/>
          <p:nvPr/>
        </p:nvSpPr>
        <p:spPr>
          <a:xfrm>
            <a:off x="960120" y="2331720"/>
            <a:ext cx="713232" cy="502920"/>
          </a:xfrm>
          <a:prstGeom prst="roundRect">
            <a:avLst>
              <a:gd name="adj" fmla="val 8000"/>
            </a:avLst>
          </a:prstGeom>
          <a:solidFill>
            <a:schemeClr val="lt2"/>
          </a:solidFill>
          <a:ln w="12700">
            <a:solidFill>
              <a:schemeClr val="accent1"/>
            </a:solidFill>
          </a:ln>
        </p:spPr>
        <p:txBody>
          <a:bodyPr wrap="square" lIns="18288" tIns="18288" rIns="18288" bIns="18288" rtlCol="0" anchor="ctr"/>
          <a:lstStyle/>
          <a:p>
            <a:pPr algn="ctr"/>
            <a:r>
              <a:rPr sz="1100" b="1" i="0">
                <a:solidFill>
                  <a:schemeClr val="dk1"/>
                </a:solidFill>
                <a:latin typeface="DM Sans"/>
              </a:rPr>
              <a:t>PE(0,0)</a:t>
            </a:r>
          </a:p>
          <a:p>
            <a:pPr algn="ctr"/>
            <a:r>
              <a:rPr sz="1000" b="0" i="0">
                <a:solidFill>
                  <a:schemeClr val="dk2"/>
                </a:solidFill>
                <a:latin typeface="DM Sans"/>
              </a:rPr>
              <a:t>A[0][0]</a:t>
            </a:r>
          </a:p>
        </p:txBody>
      </p:sp>
      <p:cxnSp>
        <p:nvCxnSpPr>
          <p:cNvPr id="17" name="Connector 16"/>
          <p:cNvCxnSpPr/>
          <p:nvPr/>
        </p:nvCxnSpPr>
        <p:spPr>
          <a:xfrm>
            <a:off x="1682496" y="2583179"/>
            <a:ext cx="265176" cy="0"/>
          </a:xfrm>
          <a:prstGeom prst="line">
            <a:avLst/>
          </a:prstGeom>
          <a:ln w="15875">
            <a:solidFill>
              <a:schemeClr val="dk2"/>
            </a:solidFill>
            <a:tailEnd type="triangle" w="med" len="med"/>
          </a:ln>
        </p:spPr>
      </p:cxnSp>
      <p:cxnSp>
        <p:nvCxnSpPr>
          <p:cNvPr id="18" name="Connector 17"/>
          <p:cNvCxnSpPr/>
          <p:nvPr/>
        </p:nvCxnSpPr>
        <p:spPr>
          <a:xfrm>
            <a:off x="1316736" y="2843783"/>
            <a:ext cx="0" cy="155449"/>
          </a:xfrm>
          <a:prstGeom prst="line">
            <a:avLst/>
          </a:prstGeom>
          <a:ln w="15875">
            <a:solidFill>
              <a:schemeClr val="dk2"/>
            </a:solidFill>
            <a:tailEnd type="triangle" w="med" len="med"/>
          </a:ln>
        </p:spPr>
      </p:cxnSp>
      <p:sp>
        <p:nvSpPr>
          <p:cNvPr id="19" name="PE 0,1"/>
          <p:cNvSpPr/>
          <p:nvPr/>
        </p:nvSpPr>
        <p:spPr>
          <a:xfrm>
            <a:off x="1965960" y="2331720"/>
            <a:ext cx="713232" cy="502920"/>
          </a:xfrm>
          <a:prstGeom prst="roundRect">
            <a:avLst>
              <a:gd name="adj" fmla="val 8000"/>
            </a:avLst>
          </a:prstGeom>
          <a:solidFill>
            <a:schemeClr val="lt2"/>
          </a:solidFill>
          <a:ln w="12700">
            <a:solidFill>
              <a:schemeClr val="accent1"/>
            </a:solidFill>
          </a:ln>
        </p:spPr>
        <p:txBody>
          <a:bodyPr wrap="square" lIns="18288" tIns="18288" rIns="18288" bIns="18288" rtlCol="0" anchor="ctr"/>
          <a:lstStyle/>
          <a:p>
            <a:pPr algn="ctr"/>
            <a:r>
              <a:rPr sz="1100" b="1" i="0">
                <a:solidFill>
                  <a:schemeClr val="dk1"/>
                </a:solidFill>
                <a:latin typeface="DM Sans"/>
              </a:rPr>
              <a:t>PE(0,1)</a:t>
            </a:r>
          </a:p>
          <a:p>
            <a:pPr algn="ctr"/>
            <a:r>
              <a:rPr sz="1000" b="0" i="0">
                <a:solidFill>
                  <a:schemeClr val="dk2"/>
                </a:solidFill>
                <a:latin typeface="DM Sans"/>
              </a:rPr>
              <a:t>A[0][1]</a:t>
            </a:r>
          </a:p>
        </p:txBody>
      </p:sp>
      <p:cxnSp>
        <p:nvCxnSpPr>
          <p:cNvPr id="20" name="Connector 19"/>
          <p:cNvCxnSpPr/>
          <p:nvPr/>
        </p:nvCxnSpPr>
        <p:spPr>
          <a:xfrm>
            <a:off x="2688335" y="2583179"/>
            <a:ext cx="265177" cy="0"/>
          </a:xfrm>
          <a:prstGeom prst="line">
            <a:avLst/>
          </a:prstGeom>
          <a:ln w="15875">
            <a:solidFill>
              <a:schemeClr val="dk2"/>
            </a:solidFill>
            <a:tailEnd type="triangle" w="med" len="med"/>
          </a:ln>
        </p:spPr>
      </p:cxnSp>
      <p:cxnSp>
        <p:nvCxnSpPr>
          <p:cNvPr id="21" name="Connector 20"/>
          <p:cNvCxnSpPr/>
          <p:nvPr/>
        </p:nvCxnSpPr>
        <p:spPr>
          <a:xfrm>
            <a:off x="2322576" y="2843783"/>
            <a:ext cx="0" cy="155449"/>
          </a:xfrm>
          <a:prstGeom prst="line">
            <a:avLst/>
          </a:prstGeom>
          <a:ln w="15875">
            <a:solidFill>
              <a:schemeClr val="dk2"/>
            </a:solidFill>
            <a:tailEnd type="triangle" w="med" len="med"/>
          </a:ln>
        </p:spPr>
      </p:cxnSp>
      <p:sp>
        <p:nvSpPr>
          <p:cNvPr id="22" name="PE 0,2"/>
          <p:cNvSpPr/>
          <p:nvPr/>
        </p:nvSpPr>
        <p:spPr>
          <a:xfrm>
            <a:off x="2971800" y="2331720"/>
            <a:ext cx="713232" cy="502920"/>
          </a:xfrm>
          <a:prstGeom prst="roundRect">
            <a:avLst>
              <a:gd name="adj" fmla="val 8000"/>
            </a:avLst>
          </a:prstGeom>
          <a:solidFill>
            <a:schemeClr val="lt2"/>
          </a:solidFill>
          <a:ln w="12700">
            <a:solidFill>
              <a:schemeClr val="accent1"/>
            </a:solidFill>
          </a:ln>
        </p:spPr>
        <p:txBody>
          <a:bodyPr wrap="square" lIns="18288" tIns="18288" rIns="18288" bIns="18288" rtlCol="0" anchor="ctr"/>
          <a:lstStyle/>
          <a:p>
            <a:pPr algn="ctr"/>
            <a:r>
              <a:rPr sz="1100" b="1" i="0">
                <a:solidFill>
                  <a:schemeClr val="dk1"/>
                </a:solidFill>
                <a:latin typeface="DM Sans"/>
              </a:rPr>
              <a:t>PE(0,2)</a:t>
            </a:r>
          </a:p>
          <a:p>
            <a:pPr algn="ctr"/>
            <a:r>
              <a:rPr sz="1000" b="0" i="0">
                <a:solidFill>
                  <a:schemeClr val="dk2"/>
                </a:solidFill>
                <a:latin typeface="DM Sans"/>
              </a:rPr>
              <a:t>A[0][2]</a:t>
            </a:r>
          </a:p>
        </p:txBody>
      </p:sp>
      <p:cxnSp>
        <p:nvCxnSpPr>
          <p:cNvPr id="23" name="Connector 22"/>
          <p:cNvCxnSpPr/>
          <p:nvPr/>
        </p:nvCxnSpPr>
        <p:spPr>
          <a:xfrm>
            <a:off x="3328416" y="2843783"/>
            <a:ext cx="0" cy="155449"/>
          </a:xfrm>
          <a:prstGeom prst="line">
            <a:avLst/>
          </a:prstGeom>
          <a:ln w="15875">
            <a:solidFill>
              <a:schemeClr val="dk2"/>
            </a:solidFill>
            <a:tailEnd type="triangle" w="med" len="med"/>
          </a:ln>
        </p:spPr>
      </p:cxnSp>
      <p:cxnSp>
        <p:nvCxnSpPr>
          <p:cNvPr id="24" name="Connector 23"/>
          <p:cNvCxnSpPr/>
          <p:nvPr/>
        </p:nvCxnSpPr>
        <p:spPr>
          <a:xfrm>
            <a:off x="3694176" y="2583179"/>
            <a:ext cx="219456" cy="0"/>
          </a:xfrm>
          <a:prstGeom prst="line">
            <a:avLst/>
          </a:prstGeom>
          <a:ln w="15875">
            <a:solidFill>
              <a:schemeClr val="dk2"/>
            </a:solidFill>
            <a:tailEnd type="triangle" w="med" len="med"/>
          </a:ln>
        </p:spPr>
      </p:cxnSp>
      <p:sp>
        <p:nvSpPr>
          <p:cNvPr id="25" name="Oval 24"/>
          <p:cNvSpPr/>
          <p:nvPr/>
        </p:nvSpPr>
        <p:spPr>
          <a:xfrm>
            <a:off x="3931920" y="2446020"/>
            <a:ext cx="274320" cy="274320"/>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DM Sans"/>
              </a:rPr>
              <a:t>+</a:t>
            </a:r>
          </a:p>
        </p:txBody>
      </p:sp>
      <p:cxnSp>
        <p:nvCxnSpPr>
          <p:cNvPr id="26" name="Connector 25"/>
          <p:cNvCxnSpPr/>
          <p:nvPr/>
        </p:nvCxnSpPr>
        <p:spPr>
          <a:xfrm>
            <a:off x="4206240" y="2583179"/>
            <a:ext cx="109728" cy="0"/>
          </a:xfrm>
          <a:prstGeom prst="line">
            <a:avLst/>
          </a:prstGeom>
          <a:ln w="15875">
            <a:solidFill>
              <a:schemeClr val="dk2"/>
            </a:solidFill>
          </a:ln>
        </p:spPr>
      </p:cxnSp>
      <p:sp>
        <p:nvSpPr>
          <p:cNvPr id="27" name="Rectangle 26"/>
          <p:cNvSpPr/>
          <p:nvPr/>
        </p:nvSpPr>
        <p:spPr>
          <a:xfrm>
            <a:off x="4315968" y="2505456"/>
            <a:ext cx="237744" cy="155448"/>
          </a:xfrm>
          <a:prstGeom prst="rect">
            <a:avLst/>
          </a:prstGeom>
          <a:solidFill>
            <a:schemeClr val="lt1"/>
          </a:solidFill>
          <a:ln w="9525">
            <a:solidFill>
              <a:schemeClr val="dk2"/>
            </a:solidFill>
          </a:ln>
        </p:spPr>
        <p:txBody>
          <a:bodyPr wrap="square" lIns="0" tIns="0" rIns="0" bIns="0" rtlCol="0" anchor="ctr"/>
          <a:lstStyle/>
          <a:p>
            <a:pPr algn="ctr"/>
            <a:r>
              <a:rPr sz="1000" b="0" i="0">
                <a:solidFill>
                  <a:schemeClr val="dk2"/>
                </a:solidFill>
                <a:latin typeface="DM Sans"/>
              </a:rPr>
              <a:t>D</a:t>
            </a:r>
          </a:p>
        </p:txBody>
      </p:sp>
      <p:cxnSp>
        <p:nvCxnSpPr>
          <p:cNvPr id="28" name="Connector 27"/>
          <p:cNvCxnSpPr/>
          <p:nvPr/>
        </p:nvCxnSpPr>
        <p:spPr>
          <a:xfrm>
            <a:off x="4553712" y="2583179"/>
            <a:ext cx="54864" cy="0"/>
          </a:xfrm>
          <a:prstGeom prst="line">
            <a:avLst/>
          </a:prstGeom>
          <a:ln w="15875">
            <a:solidFill>
              <a:schemeClr val="dk2"/>
            </a:solidFill>
          </a:ln>
        </p:spPr>
      </p:cxnSp>
      <p:sp>
        <p:nvSpPr>
          <p:cNvPr id="29" name="Rectangle 28"/>
          <p:cNvSpPr/>
          <p:nvPr/>
        </p:nvSpPr>
        <p:spPr>
          <a:xfrm>
            <a:off x="4608576" y="2505456"/>
            <a:ext cx="237744" cy="155448"/>
          </a:xfrm>
          <a:prstGeom prst="rect">
            <a:avLst/>
          </a:prstGeom>
          <a:solidFill>
            <a:schemeClr val="lt1"/>
          </a:solidFill>
          <a:ln w="9525">
            <a:solidFill>
              <a:schemeClr val="dk2"/>
            </a:solidFill>
          </a:ln>
        </p:spPr>
        <p:txBody>
          <a:bodyPr wrap="square" lIns="0" tIns="0" rIns="0" bIns="0" rtlCol="0" anchor="ctr"/>
          <a:lstStyle/>
          <a:p>
            <a:pPr algn="ctr"/>
            <a:r>
              <a:rPr sz="1000" b="0" i="0">
                <a:solidFill>
                  <a:schemeClr val="dk2"/>
                </a:solidFill>
                <a:latin typeface="DM Sans"/>
              </a:rPr>
              <a:t>D</a:t>
            </a:r>
          </a:p>
        </p:txBody>
      </p:sp>
      <p:cxnSp>
        <p:nvCxnSpPr>
          <p:cNvPr id="30" name="Connector 29"/>
          <p:cNvCxnSpPr/>
          <p:nvPr/>
        </p:nvCxnSpPr>
        <p:spPr>
          <a:xfrm>
            <a:off x="4846320" y="2583179"/>
            <a:ext cx="201168" cy="0"/>
          </a:xfrm>
          <a:prstGeom prst="line">
            <a:avLst/>
          </a:prstGeom>
          <a:ln w="15875">
            <a:solidFill>
              <a:schemeClr val="dk2"/>
            </a:solidFill>
            <a:tailEnd type="triangle" w="med" len="med"/>
          </a:ln>
        </p:spPr>
      </p:cxnSp>
      <p:sp>
        <p:nvSpPr>
          <p:cNvPr id="31" name="TextBox 30"/>
          <p:cNvSpPr txBox="1"/>
          <p:nvPr/>
        </p:nvSpPr>
        <p:spPr>
          <a:xfrm>
            <a:off x="5084064" y="2473451"/>
            <a:ext cx="457200" cy="219456"/>
          </a:xfrm>
          <a:prstGeom prst="rect">
            <a:avLst/>
          </a:prstGeom>
          <a:noFill/>
        </p:spPr>
        <p:txBody>
          <a:bodyPr wrap="square" lIns="0" tIns="0" rIns="0" bIns="0" anchor="t">
            <a:spAutoFit/>
          </a:bodyPr>
          <a:lstStyle/>
          <a:p>
            <a:pPr algn="l"/>
            <a:r>
              <a:rPr sz="1100" b="0" i="0">
                <a:solidFill>
                  <a:schemeClr val="dk1"/>
                </a:solidFill>
                <a:latin typeface="DM Sans"/>
              </a:rPr>
              <a:t>C[0]</a:t>
            </a:r>
          </a:p>
        </p:txBody>
      </p:sp>
      <p:sp>
        <p:nvSpPr>
          <p:cNvPr id="32" name="TextBox 31"/>
          <p:cNvSpPr txBox="1"/>
          <p:nvPr/>
        </p:nvSpPr>
        <p:spPr>
          <a:xfrm>
            <a:off x="502920" y="3159251"/>
            <a:ext cx="228600" cy="219456"/>
          </a:xfrm>
          <a:prstGeom prst="rect">
            <a:avLst/>
          </a:prstGeom>
          <a:noFill/>
        </p:spPr>
        <p:txBody>
          <a:bodyPr wrap="square" lIns="0" tIns="0" rIns="0" bIns="0" anchor="t">
            <a:spAutoFit/>
          </a:bodyPr>
          <a:lstStyle/>
          <a:p>
            <a:pPr algn="ctr"/>
            <a:r>
              <a:rPr sz="1100" b="0" i="0">
                <a:solidFill>
                  <a:schemeClr val="dk2"/>
                </a:solidFill>
                <a:latin typeface="DM Sans"/>
              </a:rPr>
              <a:t>0</a:t>
            </a:r>
          </a:p>
        </p:txBody>
      </p:sp>
      <p:cxnSp>
        <p:nvCxnSpPr>
          <p:cNvPr id="33" name="Connector 32"/>
          <p:cNvCxnSpPr/>
          <p:nvPr/>
        </p:nvCxnSpPr>
        <p:spPr>
          <a:xfrm>
            <a:off x="731520" y="3268979"/>
            <a:ext cx="210312" cy="0"/>
          </a:xfrm>
          <a:prstGeom prst="line">
            <a:avLst/>
          </a:prstGeom>
          <a:ln w="15875">
            <a:solidFill>
              <a:schemeClr val="dk2"/>
            </a:solidFill>
            <a:tailEnd type="triangle" w="med" len="med"/>
          </a:ln>
        </p:spPr>
      </p:cxnSp>
      <p:sp>
        <p:nvSpPr>
          <p:cNvPr id="34" name="PE 1,0"/>
          <p:cNvSpPr/>
          <p:nvPr/>
        </p:nvSpPr>
        <p:spPr>
          <a:xfrm>
            <a:off x="960120" y="3017520"/>
            <a:ext cx="713232" cy="502920"/>
          </a:xfrm>
          <a:prstGeom prst="roundRect">
            <a:avLst>
              <a:gd name="adj" fmla="val 8000"/>
            </a:avLst>
          </a:prstGeom>
          <a:solidFill>
            <a:schemeClr val="lt2"/>
          </a:solidFill>
          <a:ln w="12700">
            <a:solidFill>
              <a:schemeClr val="accent1"/>
            </a:solidFill>
          </a:ln>
        </p:spPr>
        <p:txBody>
          <a:bodyPr wrap="square" lIns="18288" tIns="18288" rIns="18288" bIns="18288" rtlCol="0" anchor="ctr"/>
          <a:lstStyle/>
          <a:p>
            <a:pPr algn="ctr"/>
            <a:r>
              <a:rPr sz="1100" b="1" i="0">
                <a:solidFill>
                  <a:schemeClr val="dk1"/>
                </a:solidFill>
                <a:latin typeface="DM Sans"/>
              </a:rPr>
              <a:t>PE(1,0)</a:t>
            </a:r>
          </a:p>
          <a:p>
            <a:pPr algn="ctr"/>
            <a:r>
              <a:rPr sz="1000" b="0" i="0">
                <a:solidFill>
                  <a:schemeClr val="dk2"/>
                </a:solidFill>
                <a:latin typeface="DM Sans"/>
              </a:rPr>
              <a:t>A[1][0]</a:t>
            </a:r>
          </a:p>
        </p:txBody>
      </p:sp>
      <p:cxnSp>
        <p:nvCxnSpPr>
          <p:cNvPr id="35" name="Connector 34"/>
          <p:cNvCxnSpPr/>
          <p:nvPr/>
        </p:nvCxnSpPr>
        <p:spPr>
          <a:xfrm>
            <a:off x="1682496" y="3268979"/>
            <a:ext cx="265176" cy="0"/>
          </a:xfrm>
          <a:prstGeom prst="line">
            <a:avLst/>
          </a:prstGeom>
          <a:ln w="15875">
            <a:solidFill>
              <a:schemeClr val="dk2"/>
            </a:solidFill>
            <a:tailEnd type="triangle" w="med" len="med"/>
          </a:ln>
        </p:spPr>
      </p:cxnSp>
      <p:cxnSp>
        <p:nvCxnSpPr>
          <p:cNvPr id="36" name="Connector 35"/>
          <p:cNvCxnSpPr/>
          <p:nvPr/>
        </p:nvCxnSpPr>
        <p:spPr>
          <a:xfrm>
            <a:off x="1316736" y="3529583"/>
            <a:ext cx="0" cy="155449"/>
          </a:xfrm>
          <a:prstGeom prst="line">
            <a:avLst/>
          </a:prstGeom>
          <a:ln w="15875">
            <a:solidFill>
              <a:schemeClr val="dk2"/>
            </a:solidFill>
            <a:tailEnd type="triangle" w="med" len="med"/>
          </a:ln>
        </p:spPr>
      </p:cxnSp>
      <p:sp>
        <p:nvSpPr>
          <p:cNvPr id="37" name="PE 1,1"/>
          <p:cNvSpPr/>
          <p:nvPr/>
        </p:nvSpPr>
        <p:spPr>
          <a:xfrm>
            <a:off x="1965960" y="3017520"/>
            <a:ext cx="713232" cy="502920"/>
          </a:xfrm>
          <a:prstGeom prst="roundRect">
            <a:avLst>
              <a:gd name="adj" fmla="val 8000"/>
            </a:avLst>
          </a:prstGeom>
          <a:solidFill>
            <a:schemeClr val="lt2"/>
          </a:solidFill>
          <a:ln w="12700">
            <a:solidFill>
              <a:schemeClr val="accent1"/>
            </a:solidFill>
          </a:ln>
        </p:spPr>
        <p:txBody>
          <a:bodyPr wrap="square" lIns="18288" tIns="18288" rIns="18288" bIns="18288" rtlCol="0" anchor="ctr"/>
          <a:lstStyle/>
          <a:p>
            <a:pPr algn="ctr"/>
            <a:r>
              <a:rPr sz="1100" b="1" i="0">
                <a:solidFill>
                  <a:schemeClr val="dk1"/>
                </a:solidFill>
                <a:latin typeface="DM Sans"/>
              </a:rPr>
              <a:t>PE(1,1)</a:t>
            </a:r>
          </a:p>
          <a:p>
            <a:pPr algn="ctr"/>
            <a:r>
              <a:rPr sz="1000" b="0" i="0">
                <a:solidFill>
                  <a:schemeClr val="dk2"/>
                </a:solidFill>
                <a:latin typeface="DM Sans"/>
              </a:rPr>
              <a:t>A[1][1]</a:t>
            </a:r>
          </a:p>
        </p:txBody>
      </p:sp>
      <p:cxnSp>
        <p:nvCxnSpPr>
          <p:cNvPr id="38" name="Connector 37"/>
          <p:cNvCxnSpPr/>
          <p:nvPr/>
        </p:nvCxnSpPr>
        <p:spPr>
          <a:xfrm>
            <a:off x="2688335" y="3268979"/>
            <a:ext cx="265177" cy="0"/>
          </a:xfrm>
          <a:prstGeom prst="line">
            <a:avLst/>
          </a:prstGeom>
          <a:ln w="15875">
            <a:solidFill>
              <a:schemeClr val="dk2"/>
            </a:solidFill>
            <a:tailEnd type="triangle" w="med" len="med"/>
          </a:ln>
        </p:spPr>
      </p:cxnSp>
      <p:cxnSp>
        <p:nvCxnSpPr>
          <p:cNvPr id="39" name="Connector 38"/>
          <p:cNvCxnSpPr/>
          <p:nvPr/>
        </p:nvCxnSpPr>
        <p:spPr>
          <a:xfrm>
            <a:off x="2322576" y="3529583"/>
            <a:ext cx="0" cy="155449"/>
          </a:xfrm>
          <a:prstGeom prst="line">
            <a:avLst/>
          </a:prstGeom>
          <a:ln w="15875">
            <a:solidFill>
              <a:schemeClr val="dk2"/>
            </a:solidFill>
            <a:tailEnd type="triangle" w="med" len="med"/>
          </a:ln>
        </p:spPr>
      </p:cxnSp>
      <p:sp>
        <p:nvSpPr>
          <p:cNvPr id="40" name="PE 1,2"/>
          <p:cNvSpPr/>
          <p:nvPr/>
        </p:nvSpPr>
        <p:spPr>
          <a:xfrm>
            <a:off x="2971800" y="3017520"/>
            <a:ext cx="713232" cy="502920"/>
          </a:xfrm>
          <a:prstGeom prst="roundRect">
            <a:avLst>
              <a:gd name="adj" fmla="val 8000"/>
            </a:avLst>
          </a:prstGeom>
          <a:solidFill>
            <a:schemeClr val="lt2"/>
          </a:solidFill>
          <a:ln w="12700">
            <a:solidFill>
              <a:schemeClr val="accent1"/>
            </a:solidFill>
          </a:ln>
        </p:spPr>
        <p:txBody>
          <a:bodyPr wrap="square" lIns="18288" tIns="18288" rIns="18288" bIns="18288" rtlCol="0" anchor="ctr"/>
          <a:lstStyle/>
          <a:p>
            <a:pPr algn="ctr"/>
            <a:r>
              <a:rPr sz="1100" b="1" i="0">
                <a:solidFill>
                  <a:schemeClr val="dk1"/>
                </a:solidFill>
                <a:latin typeface="DM Sans"/>
              </a:rPr>
              <a:t>PE(1,2)</a:t>
            </a:r>
          </a:p>
          <a:p>
            <a:pPr algn="ctr"/>
            <a:r>
              <a:rPr sz="1000" b="0" i="0">
                <a:solidFill>
                  <a:schemeClr val="dk2"/>
                </a:solidFill>
                <a:latin typeface="DM Sans"/>
              </a:rPr>
              <a:t>A[1][2]</a:t>
            </a:r>
          </a:p>
        </p:txBody>
      </p:sp>
      <p:cxnSp>
        <p:nvCxnSpPr>
          <p:cNvPr id="41" name="Connector 40"/>
          <p:cNvCxnSpPr/>
          <p:nvPr/>
        </p:nvCxnSpPr>
        <p:spPr>
          <a:xfrm>
            <a:off x="3328416" y="3529583"/>
            <a:ext cx="0" cy="155449"/>
          </a:xfrm>
          <a:prstGeom prst="line">
            <a:avLst/>
          </a:prstGeom>
          <a:ln w="15875">
            <a:solidFill>
              <a:schemeClr val="dk2"/>
            </a:solidFill>
            <a:tailEnd type="triangle" w="med" len="med"/>
          </a:ln>
        </p:spPr>
      </p:cxnSp>
      <p:cxnSp>
        <p:nvCxnSpPr>
          <p:cNvPr id="42" name="Connector 41"/>
          <p:cNvCxnSpPr/>
          <p:nvPr/>
        </p:nvCxnSpPr>
        <p:spPr>
          <a:xfrm>
            <a:off x="3694176" y="3268979"/>
            <a:ext cx="219456" cy="0"/>
          </a:xfrm>
          <a:prstGeom prst="line">
            <a:avLst/>
          </a:prstGeom>
          <a:ln w="15875">
            <a:solidFill>
              <a:schemeClr val="dk2"/>
            </a:solidFill>
            <a:tailEnd type="triangle" w="med" len="med"/>
          </a:ln>
        </p:spPr>
      </p:cxnSp>
      <p:sp>
        <p:nvSpPr>
          <p:cNvPr id="43" name="Oval 42"/>
          <p:cNvSpPr/>
          <p:nvPr/>
        </p:nvSpPr>
        <p:spPr>
          <a:xfrm>
            <a:off x="3931920" y="3131820"/>
            <a:ext cx="274320" cy="274320"/>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DM Sans"/>
              </a:rPr>
              <a:t>+</a:t>
            </a:r>
          </a:p>
        </p:txBody>
      </p:sp>
      <p:cxnSp>
        <p:nvCxnSpPr>
          <p:cNvPr id="44" name="Connector 43"/>
          <p:cNvCxnSpPr/>
          <p:nvPr/>
        </p:nvCxnSpPr>
        <p:spPr>
          <a:xfrm>
            <a:off x="4206240" y="3268979"/>
            <a:ext cx="402336" cy="0"/>
          </a:xfrm>
          <a:prstGeom prst="line">
            <a:avLst/>
          </a:prstGeom>
          <a:ln w="15875">
            <a:solidFill>
              <a:schemeClr val="dk2"/>
            </a:solidFill>
          </a:ln>
        </p:spPr>
      </p:cxnSp>
      <p:sp>
        <p:nvSpPr>
          <p:cNvPr id="45" name="Rectangle 44"/>
          <p:cNvSpPr/>
          <p:nvPr/>
        </p:nvSpPr>
        <p:spPr>
          <a:xfrm>
            <a:off x="4608576" y="3191256"/>
            <a:ext cx="237744" cy="155448"/>
          </a:xfrm>
          <a:prstGeom prst="rect">
            <a:avLst/>
          </a:prstGeom>
          <a:solidFill>
            <a:schemeClr val="lt1"/>
          </a:solidFill>
          <a:ln w="9525">
            <a:solidFill>
              <a:schemeClr val="dk2"/>
            </a:solidFill>
          </a:ln>
        </p:spPr>
        <p:txBody>
          <a:bodyPr wrap="square" lIns="0" tIns="0" rIns="0" bIns="0" rtlCol="0" anchor="ctr"/>
          <a:lstStyle/>
          <a:p>
            <a:pPr algn="ctr"/>
            <a:r>
              <a:rPr sz="1000" b="0" i="0">
                <a:solidFill>
                  <a:schemeClr val="dk2"/>
                </a:solidFill>
                <a:latin typeface="DM Sans"/>
              </a:rPr>
              <a:t>D</a:t>
            </a:r>
          </a:p>
        </p:txBody>
      </p:sp>
      <p:cxnSp>
        <p:nvCxnSpPr>
          <p:cNvPr id="46" name="Connector 45"/>
          <p:cNvCxnSpPr/>
          <p:nvPr/>
        </p:nvCxnSpPr>
        <p:spPr>
          <a:xfrm>
            <a:off x="4846320" y="3268979"/>
            <a:ext cx="201168" cy="0"/>
          </a:xfrm>
          <a:prstGeom prst="line">
            <a:avLst/>
          </a:prstGeom>
          <a:ln w="15875">
            <a:solidFill>
              <a:schemeClr val="dk2"/>
            </a:solidFill>
            <a:tailEnd type="triangle" w="med" len="med"/>
          </a:ln>
        </p:spPr>
      </p:cxnSp>
      <p:sp>
        <p:nvSpPr>
          <p:cNvPr id="47" name="TextBox 46"/>
          <p:cNvSpPr txBox="1"/>
          <p:nvPr/>
        </p:nvSpPr>
        <p:spPr>
          <a:xfrm>
            <a:off x="5084064" y="3159251"/>
            <a:ext cx="457200" cy="219456"/>
          </a:xfrm>
          <a:prstGeom prst="rect">
            <a:avLst/>
          </a:prstGeom>
          <a:noFill/>
        </p:spPr>
        <p:txBody>
          <a:bodyPr wrap="square" lIns="0" tIns="0" rIns="0" bIns="0" anchor="t">
            <a:spAutoFit/>
          </a:bodyPr>
          <a:lstStyle/>
          <a:p>
            <a:pPr algn="l"/>
            <a:r>
              <a:rPr sz="1100" b="0" i="0">
                <a:solidFill>
                  <a:schemeClr val="dk1"/>
                </a:solidFill>
                <a:latin typeface="DM Sans"/>
              </a:rPr>
              <a:t>C[1]</a:t>
            </a:r>
          </a:p>
        </p:txBody>
      </p:sp>
      <p:sp>
        <p:nvSpPr>
          <p:cNvPr id="48" name="TextBox 47"/>
          <p:cNvSpPr txBox="1"/>
          <p:nvPr/>
        </p:nvSpPr>
        <p:spPr>
          <a:xfrm>
            <a:off x="502920" y="3845052"/>
            <a:ext cx="228600" cy="219456"/>
          </a:xfrm>
          <a:prstGeom prst="rect">
            <a:avLst/>
          </a:prstGeom>
          <a:noFill/>
        </p:spPr>
        <p:txBody>
          <a:bodyPr wrap="square" lIns="0" tIns="0" rIns="0" bIns="0" anchor="t">
            <a:spAutoFit/>
          </a:bodyPr>
          <a:lstStyle/>
          <a:p>
            <a:pPr algn="ctr"/>
            <a:r>
              <a:rPr sz="1100" b="0" i="0">
                <a:solidFill>
                  <a:schemeClr val="dk2"/>
                </a:solidFill>
                <a:latin typeface="DM Sans"/>
              </a:rPr>
              <a:t>0</a:t>
            </a:r>
          </a:p>
        </p:txBody>
      </p:sp>
      <p:cxnSp>
        <p:nvCxnSpPr>
          <p:cNvPr id="49" name="Connector 48"/>
          <p:cNvCxnSpPr/>
          <p:nvPr/>
        </p:nvCxnSpPr>
        <p:spPr>
          <a:xfrm>
            <a:off x="731520" y="3954780"/>
            <a:ext cx="210312" cy="0"/>
          </a:xfrm>
          <a:prstGeom prst="line">
            <a:avLst/>
          </a:prstGeom>
          <a:ln w="15875">
            <a:solidFill>
              <a:schemeClr val="dk2"/>
            </a:solidFill>
            <a:tailEnd type="triangle" w="med" len="med"/>
          </a:ln>
        </p:spPr>
      </p:cxnSp>
      <p:sp>
        <p:nvSpPr>
          <p:cNvPr id="50" name="PE 2,0"/>
          <p:cNvSpPr/>
          <p:nvPr/>
        </p:nvSpPr>
        <p:spPr>
          <a:xfrm>
            <a:off x="960120" y="3703320"/>
            <a:ext cx="713232" cy="502920"/>
          </a:xfrm>
          <a:prstGeom prst="roundRect">
            <a:avLst>
              <a:gd name="adj" fmla="val 8000"/>
            </a:avLst>
          </a:prstGeom>
          <a:solidFill>
            <a:schemeClr val="lt2"/>
          </a:solidFill>
          <a:ln w="12700">
            <a:solidFill>
              <a:schemeClr val="accent1"/>
            </a:solidFill>
          </a:ln>
        </p:spPr>
        <p:txBody>
          <a:bodyPr wrap="square" lIns="18288" tIns="18288" rIns="18288" bIns="18288" rtlCol="0" anchor="ctr"/>
          <a:lstStyle/>
          <a:p>
            <a:pPr algn="ctr"/>
            <a:r>
              <a:rPr sz="1100" b="1" i="0">
                <a:solidFill>
                  <a:schemeClr val="dk1"/>
                </a:solidFill>
                <a:latin typeface="DM Sans"/>
              </a:rPr>
              <a:t>PE(2,0)</a:t>
            </a:r>
          </a:p>
          <a:p>
            <a:pPr algn="ctr"/>
            <a:r>
              <a:rPr sz="1000" b="0" i="0">
                <a:solidFill>
                  <a:schemeClr val="dk2"/>
                </a:solidFill>
                <a:latin typeface="DM Sans"/>
              </a:rPr>
              <a:t>A[2][0]</a:t>
            </a:r>
          </a:p>
        </p:txBody>
      </p:sp>
      <p:cxnSp>
        <p:nvCxnSpPr>
          <p:cNvPr id="51" name="Connector 50"/>
          <p:cNvCxnSpPr/>
          <p:nvPr/>
        </p:nvCxnSpPr>
        <p:spPr>
          <a:xfrm>
            <a:off x="1682496" y="3954780"/>
            <a:ext cx="265176" cy="0"/>
          </a:xfrm>
          <a:prstGeom prst="line">
            <a:avLst/>
          </a:prstGeom>
          <a:ln w="15875">
            <a:solidFill>
              <a:schemeClr val="dk2"/>
            </a:solidFill>
            <a:tailEnd type="triangle" w="med" len="med"/>
          </a:ln>
        </p:spPr>
      </p:cxnSp>
      <p:sp>
        <p:nvSpPr>
          <p:cNvPr id="52" name="PE 2,1"/>
          <p:cNvSpPr/>
          <p:nvPr/>
        </p:nvSpPr>
        <p:spPr>
          <a:xfrm>
            <a:off x="1965960" y="3703320"/>
            <a:ext cx="713232" cy="502920"/>
          </a:xfrm>
          <a:prstGeom prst="roundRect">
            <a:avLst>
              <a:gd name="adj" fmla="val 8000"/>
            </a:avLst>
          </a:prstGeom>
          <a:solidFill>
            <a:schemeClr val="lt2"/>
          </a:solidFill>
          <a:ln w="12700">
            <a:solidFill>
              <a:schemeClr val="accent1"/>
            </a:solidFill>
          </a:ln>
        </p:spPr>
        <p:txBody>
          <a:bodyPr wrap="square" lIns="18288" tIns="18288" rIns="18288" bIns="18288" rtlCol="0" anchor="ctr"/>
          <a:lstStyle/>
          <a:p>
            <a:pPr algn="ctr"/>
            <a:r>
              <a:rPr sz="1100" b="1" i="0">
                <a:solidFill>
                  <a:schemeClr val="dk1"/>
                </a:solidFill>
                <a:latin typeface="DM Sans"/>
              </a:rPr>
              <a:t>PE(2,1)</a:t>
            </a:r>
          </a:p>
          <a:p>
            <a:pPr algn="ctr"/>
            <a:r>
              <a:rPr sz="1000" b="0" i="0">
                <a:solidFill>
                  <a:schemeClr val="dk2"/>
                </a:solidFill>
                <a:latin typeface="DM Sans"/>
              </a:rPr>
              <a:t>A[2][1]</a:t>
            </a:r>
          </a:p>
        </p:txBody>
      </p:sp>
      <p:cxnSp>
        <p:nvCxnSpPr>
          <p:cNvPr id="53" name="Connector 52"/>
          <p:cNvCxnSpPr/>
          <p:nvPr/>
        </p:nvCxnSpPr>
        <p:spPr>
          <a:xfrm>
            <a:off x="2688335" y="3954780"/>
            <a:ext cx="265177" cy="0"/>
          </a:xfrm>
          <a:prstGeom prst="line">
            <a:avLst/>
          </a:prstGeom>
          <a:ln w="15875">
            <a:solidFill>
              <a:schemeClr val="dk2"/>
            </a:solidFill>
            <a:tailEnd type="triangle" w="med" len="med"/>
          </a:ln>
        </p:spPr>
      </p:cxnSp>
      <p:sp>
        <p:nvSpPr>
          <p:cNvPr id="54" name="PE 2,2"/>
          <p:cNvSpPr/>
          <p:nvPr/>
        </p:nvSpPr>
        <p:spPr>
          <a:xfrm>
            <a:off x="2971800" y="3703320"/>
            <a:ext cx="713232" cy="502920"/>
          </a:xfrm>
          <a:prstGeom prst="roundRect">
            <a:avLst>
              <a:gd name="adj" fmla="val 8000"/>
            </a:avLst>
          </a:prstGeom>
          <a:solidFill>
            <a:schemeClr val="lt2"/>
          </a:solidFill>
          <a:ln w="12700">
            <a:solidFill>
              <a:schemeClr val="accent1"/>
            </a:solidFill>
          </a:ln>
        </p:spPr>
        <p:txBody>
          <a:bodyPr wrap="square" lIns="18288" tIns="18288" rIns="18288" bIns="18288" rtlCol="0" anchor="ctr"/>
          <a:lstStyle/>
          <a:p>
            <a:pPr algn="ctr"/>
            <a:r>
              <a:rPr sz="1100" b="1" i="0">
                <a:solidFill>
                  <a:schemeClr val="dk1"/>
                </a:solidFill>
                <a:latin typeface="DM Sans"/>
              </a:rPr>
              <a:t>PE(2,2)</a:t>
            </a:r>
          </a:p>
          <a:p>
            <a:pPr algn="ctr"/>
            <a:r>
              <a:rPr sz="1000" b="0" i="0">
                <a:solidFill>
                  <a:schemeClr val="dk2"/>
                </a:solidFill>
                <a:latin typeface="DM Sans"/>
              </a:rPr>
              <a:t>A[2][2]</a:t>
            </a:r>
          </a:p>
        </p:txBody>
      </p:sp>
      <p:cxnSp>
        <p:nvCxnSpPr>
          <p:cNvPr id="55" name="Connector 54"/>
          <p:cNvCxnSpPr/>
          <p:nvPr/>
        </p:nvCxnSpPr>
        <p:spPr>
          <a:xfrm>
            <a:off x="3694176" y="3954780"/>
            <a:ext cx="219456" cy="0"/>
          </a:xfrm>
          <a:prstGeom prst="line">
            <a:avLst/>
          </a:prstGeom>
          <a:ln w="15875">
            <a:solidFill>
              <a:schemeClr val="dk2"/>
            </a:solidFill>
            <a:tailEnd type="triangle" w="med" len="med"/>
          </a:ln>
        </p:spPr>
      </p:cxnSp>
      <p:sp>
        <p:nvSpPr>
          <p:cNvPr id="56" name="Oval 55"/>
          <p:cNvSpPr/>
          <p:nvPr/>
        </p:nvSpPr>
        <p:spPr>
          <a:xfrm>
            <a:off x="3931920" y="3817620"/>
            <a:ext cx="274320" cy="274320"/>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DM Sans"/>
              </a:rPr>
              <a:t>+</a:t>
            </a:r>
          </a:p>
        </p:txBody>
      </p:sp>
      <p:cxnSp>
        <p:nvCxnSpPr>
          <p:cNvPr id="57" name="Connector 56"/>
          <p:cNvCxnSpPr/>
          <p:nvPr/>
        </p:nvCxnSpPr>
        <p:spPr>
          <a:xfrm>
            <a:off x="4206240" y="3954780"/>
            <a:ext cx="841248" cy="0"/>
          </a:xfrm>
          <a:prstGeom prst="line">
            <a:avLst/>
          </a:prstGeom>
          <a:ln w="15875">
            <a:solidFill>
              <a:schemeClr val="dk2"/>
            </a:solidFill>
            <a:tailEnd type="triangle" w="med" len="med"/>
          </a:ln>
        </p:spPr>
      </p:cxnSp>
      <p:sp>
        <p:nvSpPr>
          <p:cNvPr id="58" name="TextBox 57"/>
          <p:cNvSpPr txBox="1"/>
          <p:nvPr/>
        </p:nvSpPr>
        <p:spPr>
          <a:xfrm>
            <a:off x="5084064" y="3845052"/>
            <a:ext cx="457200" cy="219456"/>
          </a:xfrm>
          <a:prstGeom prst="rect">
            <a:avLst/>
          </a:prstGeom>
          <a:noFill/>
        </p:spPr>
        <p:txBody>
          <a:bodyPr wrap="square" lIns="0" tIns="0" rIns="0" bIns="0" anchor="t">
            <a:spAutoFit/>
          </a:bodyPr>
          <a:lstStyle/>
          <a:p>
            <a:pPr algn="l"/>
            <a:r>
              <a:rPr sz="1100" b="0" i="0">
                <a:solidFill>
                  <a:schemeClr val="dk1"/>
                </a:solidFill>
                <a:latin typeface="DM Sans"/>
              </a:rPr>
              <a:t>C[2]</a:t>
            </a:r>
          </a:p>
        </p:txBody>
      </p:sp>
      <p:sp>
        <p:nvSpPr>
          <p:cNvPr id="59" name="Oval 58"/>
          <p:cNvSpPr/>
          <p:nvPr/>
        </p:nvSpPr>
        <p:spPr>
          <a:xfrm>
            <a:off x="5760720" y="1737360"/>
            <a:ext cx="329184" cy="329184"/>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Space Grotesk"/>
              </a:rPr>
              <a:t>1</a:t>
            </a:r>
          </a:p>
        </p:txBody>
      </p:sp>
      <p:sp>
        <p:nvSpPr>
          <p:cNvPr id="60" name="TextBox 59"/>
          <p:cNvSpPr txBox="1"/>
          <p:nvPr/>
        </p:nvSpPr>
        <p:spPr>
          <a:xfrm>
            <a:off x="6199632" y="1755648"/>
            <a:ext cx="2560320" cy="274320"/>
          </a:xfrm>
          <a:prstGeom prst="rect">
            <a:avLst/>
          </a:prstGeom>
          <a:noFill/>
        </p:spPr>
        <p:txBody>
          <a:bodyPr wrap="square" lIns="0" tIns="0" rIns="0" bIns="0" anchor="t">
            <a:spAutoFit/>
          </a:bodyPr>
          <a:lstStyle/>
          <a:p>
            <a:pPr algn="l"/>
            <a:r>
              <a:rPr sz="1400" b="1" i="0">
                <a:solidFill>
                  <a:schemeClr val="accent4"/>
                </a:solidFill>
                <a:latin typeface="DM Sans"/>
              </a:rPr>
              <a:t>A stays in the PEs</a:t>
            </a:r>
          </a:p>
        </p:txBody>
      </p:sp>
      <p:sp>
        <p:nvSpPr>
          <p:cNvPr id="61" name="TextBox 60"/>
          <p:cNvSpPr txBox="1"/>
          <p:nvPr/>
        </p:nvSpPr>
        <p:spPr>
          <a:xfrm>
            <a:off x="6199632" y="2048255"/>
            <a:ext cx="2560320" cy="548640"/>
          </a:xfrm>
          <a:prstGeom prst="rect">
            <a:avLst/>
          </a:prstGeom>
          <a:noFill/>
        </p:spPr>
        <p:txBody>
          <a:bodyPr wrap="square" lIns="0" tIns="0" rIns="0" bIns="0" anchor="t">
            <a:spAutoFit/>
          </a:bodyPr>
          <a:lstStyle/>
          <a:p>
            <a:pPr algn="l"/>
            <a:r>
              <a:rPr sz="1200" b="0" i="0">
                <a:solidFill>
                  <a:schemeClr val="dk1"/>
                </a:solidFill>
                <a:latin typeface="DM Sans"/>
              </a:rPr>
              <a:t>PE(i,k) holds one number, A[i][k].</a:t>
            </a:r>
          </a:p>
        </p:txBody>
      </p:sp>
      <p:sp>
        <p:nvSpPr>
          <p:cNvPr id="62" name="Oval 61"/>
          <p:cNvSpPr/>
          <p:nvPr/>
        </p:nvSpPr>
        <p:spPr>
          <a:xfrm>
            <a:off x="5760720" y="2670048"/>
            <a:ext cx="329184" cy="329184"/>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Space Grotesk"/>
              </a:rPr>
              <a:t>2</a:t>
            </a:r>
          </a:p>
        </p:txBody>
      </p:sp>
      <p:sp>
        <p:nvSpPr>
          <p:cNvPr id="63" name="TextBox 62"/>
          <p:cNvSpPr txBox="1"/>
          <p:nvPr/>
        </p:nvSpPr>
        <p:spPr>
          <a:xfrm>
            <a:off x="6199632" y="2688336"/>
            <a:ext cx="2560320" cy="274320"/>
          </a:xfrm>
          <a:prstGeom prst="rect">
            <a:avLst/>
          </a:prstGeom>
          <a:noFill/>
        </p:spPr>
        <p:txBody>
          <a:bodyPr wrap="square" lIns="0" tIns="0" rIns="0" bIns="0" anchor="t">
            <a:spAutoFit/>
          </a:bodyPr>
          <a:lstStyle/>
          <a:p>
            <a:pPr algn="l"/>
            <a:r>
              <a:rPr sz="1400" b="1" i="0">
                <a:solidFill>
                  <a:schemeClr val="accent4"/>
                </a:solidFill>
                <a:latin typeface="DM Sans"/>
              </a:rPr>
              <a:t>B flows down, sums flow right</a:t>
            </a:r>
          </a:p>
        </p:txBody>
      </p:sp>
      <p:sp>
        <p:nvSpPr>
          <p:cNvPr id="64" name="TextBox 63"/>
          <p:cNvSpPr txBox="1"/>
          <p:nvPr/>
        </p:nvSpPr>
        <p:spPr>
          <a:xfrm>
            <a:off x="6199632" y="2980944"/>
            <a:ext cx="2560320" cy="548640"/>
          </a:xfrm>
          <a:prstGeom prst="rect">
            <a:avLst/>
          </a:prstGeom>
          <a:noFill/>
        </p:spPr>
        <p:txBody>
          <a:bodyPr wrap="square" lIns="0" tIns="0" rIns="0" bIns="0" anchor="t">
            <a:spAutoFit/>
          </a:bodyPr>
          <a:lstStyle/>
          <a:p>
            <a:pPr algn="l"/>
            <a:r>
              <a:rPr sz="1200" b="0" i="0">
                <a:solidFill>
                  <a:schemeClr val="dk1"/>
                </a:solidFill>
                <a:latin typeface="DM Sans"/>
              </a:rPr>
              <a:t>One B column enters per cycle; each row adds A × B to its sum.</a:t>
            </a:r>
          </a:p>
        </p:txBody>
      </p:sp>
      <p:sp>
        <p:nvSpPr>
          <p:cNvPr id="65" name="Oval 64"/>
          <p:cNvSpPr/>
          <p:nvPr/>
        </p:nvSpPr>
        <p:spPr>
          <a:xfrm>
            <a:off x="5760720" y="3602736"/>
            <a:ext cx="329184" cy="329184"/>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Space Grotesk"/>
              </a:rPr>
              <a:t>3</a:t>
            </a:r>
          </a:p>
        </p:txBody>
      </p:sp>
      <p:sp>
        <p:nvSpPr>
          <p:cNvPr id="66" name="TextBox 65"/>
          <p:cNvSpPr txBox="1"/>
          <p:nvPr/>
        </p:nvSpPr>
        <p:spPr>
          <a:xfrm>
            <a:off x="6199632" y="3621024"/>
            <a:ext cx="2560320" cy="274320"/>
          </a:xfrm>
          <a:prstGeom prst="rect">
            <a:avLst/>
          </a:prstGeom>
          <a:noFill/>
        </p:spPr>
        <p:txBody>
          <a:bodyPr wrap="square" lIns="0" tIns="0" rIns="0" bIns="0" anchor="t">
            <a:spAutoFit/>
          </a:bodyPr>
          <a:lstStyle/>
          <a:p>
            <a:pPr algn="l"/>
            <a:r>
              <a:rPr sz="1400" b="1" i="0">
                <a:solidFill>
                  <a:schemeClr val="accent4"/>
                </a:solidFill>
                <a:latin typeface="DM Sans"/>
              </a:rPr>
              <a:t>Skew in, deskew out</a:t>
            </a:r>
          </a:p>
        </p:txBody>
      </p:sp>
      <p:sp>
        <p:nvSpPr>
          <p:cNvPr id="67" name="TextBox 66"/>
          <p:cNvSpPr txBox="1"/>
          <p:nvPr/>
        </p:nvSpPr>
        <p:spPr>
          <a:xfrm>
            <a:off x="6199632" y="3913632"/>
            <a:ext cx="2560320" cy="548640"/>
          </a:xfrm>
          <a:prstGeom prst="rect">
            <a:avLst/>
          </a:prstGeom>
          <a:noFill/>
        </p:spPr>
        <p:txBody>
          <a:bodyPr wrap="square" lIns="0" tIns="0" rIns="0" bIns="0" anchor="t">
            <a:spAutoFit/>
          </a:bodyPr>
          <a:lstStyle/>
          <a:p>
            <a:pPr algn="l"/>
            <a:r>
              <a:rPr sz="1200" b="0" i="0">
                <a:solidFill>
                  <a:schemeClr val="dk1"/>
                </a:solidFill>
                <a:latin typeface="DM Sans"/>
              </a:rPr>
              <a:t>B[k] waits k cycles to meet its sum; the edge realigns the rows, so C leaves as whole columns.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Interface and tile switching</a:t>
            </a:r>
          </a:p>
        </p:txBody>
      </p:sp>
      <p:sp>
        <p:nvSpPr>
          <p:cNvPr id="3" name="Lead"/>
          <p:cNvSpPr txBox="1"/>
          <p:nvPr/>
        </p:nvSpPr>
        <p:spPr>
          <a:xfrm>
            <a:off x="393192" y="1161288"/>
            <a:ext cx="8321040" cy="384048"/>
          </a:xfrm>
          <a:prstGeom prst="rect">
            <a:avLst/>
          </a:prstGeom>
          <a:noFill/>
        </p:spPr>
        <p:txBody>
          <a:bodyPr wrap="square" lIns="0" tIns="0" rIns="0" bIns="0" anchor="t">
            <a:spAutoFit/>
          </a:bodyPr>
          <a:lstStyle/>
          <a:p>
            <a:pPr algn="l"/>
            <a:r>
              <a:rPr sz="1600" b="0" i="0">
                <a:solidFill>
                  <a:schemeClr val="dk1"/>
                </a:solidFill>
                <a:latin typeface="DM Sans"/>
              </a:rPr>
              <a:t>Load A a row at a time, stream B a column per cycle, read C a column per cycle.</a:t>
            </a:r>
          </a:p>
        </p:txBody>
      </p:sp>
      <p:graphicFrame>
        <p:nvGraphicFramePr>
          <p:cNvPr id="4" name="Port table"/>
          <p:cNvGraphicFramePr>
            <a:graphicFrameLocks noGrp="1"/>
          </p:cNvGraphicFramePr>
          <p:nvPr/>
        </p:nvGraphicFramePr>
        <p:xfrm>
          <a:off x="411480" y="1691640"/>
          <a:ext cx="4983480" cy="2715768"/>
        </p:xfrm>
        <a:graphic>
          <a:graphicData uri="http://schemas.openxmlformats.org/drawingml/2006/table">
            <a:tbl>
              <a:tblPr firstRow="1">
                <a:tableStyleId>{2D5ABB26-0587-4C30-8999-92F81FD0307C}</a:tableStyleId>
              </a:tblPr>
              <a:tblGrid>
                <a:gridCol w="160020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301752">
                <a:tc>
                  <a:txBody>
                    <a:bodyPr/>
                    <a:lstStyle/>
                    <a:p>
                      <a:pPr algn="l"/>
                      <a:r>
                        <a:rPr sz="1100" b="1" i="0">
                          <a:solidFill>
                            <a:schemeClr val="dk1"/>
                          </a:solidFill>
                          <a:latin typeface="DM Sans"/>
                        </a:rPr>
                        <a:t>Port</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accent5"/>
                    </a:solidFill>
                  </a:tcPr>
                </a:tc>
                <a:tc>
                  <a:txBody>
                    <a:bodyPr/>
                    <a:lstStyle/>
                    <a:p>
                      <a:pPr algn="l"/>
                      <a:r>
                        <a:rPr sz="1100" b="1" i="0">
                          <a:solidFill>
                            <a:schemeClr val="dk1"/>
                          </a:solidFill>
                          <a:latin typeface="DM Sans"/>
                        </a:rPr>
                        <a:t>Dir</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accent5"/>
                    </a:solidFill>
                  </a:tcPr>
                </a:tc>
                <a:tc>
                  <a:txBody>
                    <a:bodyPr/>
                    <a:lstStyle/>
                    <a:p>
                      <a:pPr algn="l"/>
                      <a:r>
                        <a:rPr sz="1100" b="1" i="0">
                          <a:solidFill>
                            <a:schemeClr val="dk1"/>
                          </a:solidFill>
                          <a:latin typeface="DM Sans"/>
                        </a:rPr>
                        <a:t>Width</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accent5"/>
                    </a:solidFill>
                  </a:tcPr>
                </a:tc>
                <a:tc>
                  <a:txBody>
                    <a:bodyPr/>
                    <a:lstStyle/>
                    <a:p>
                      <a:pPr algn="l"/>
                      <a:r>
                        <a:rPr sz="1100" b="1" i="0">
                          <a:solidFill>
                            <a:schemeClr val="dk1"/>
                          </a:solidFill>
                          <a:latin typeface="DM Sans"/>
                        </a:rPr>
                        <a:t>Meaning</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accent5"/>
                    </a:solidFill>
                  </a:tcPr>
                </a:tc>
                <a:extLst>
                  <a:ext uri="{0D108BD9-81ED-4DB2-BD59-A6C34878D82A}">
                    <a16:rowId xmlns:a16="http://schemas.microsoft.com/office/drawing/2014/main" val="10000"/>
                  </a:ext>
                </a:extLst>
              </a:tr>
              <a:tr h="301752">
                <a:tc>
                  <a:txBody>
                    <a:bodyPr/>
                    <a:lstStyle/>
                    <a:p>
                      <a:pPr algn="l"/>
                      <a:r>
                        <a:rPr sz="1100" b="0" i="0">
                          <a:solidFill>
                            <a:schemeClr val="dk1"/>
                          </a:solidFill>
                          <a:latin typeface="DM Sans"/>
                        </a:rPr>
                        <a:t>clk_i, rst_ni</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in</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1</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clock; async reset</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1"/>
                  </a:ext>
                </a:extLst>
              </a:tr>
              <a:tr h="301752">
                <a:tc>
                  <a:txBody>
                    <a:bodyPr/>
                    <a:lstStyle/>
                    <a:p>
                      <a:pPr algn="l"/>
                      <a:r>
                        <a:rPr sz="1100" b="0" i="0">
                          <a:solidFill>
                            <a:schemeClr val="dk1"/>
                          </a:solidFill>
                          <a:latin typeface="DM Sans"/>
                        </a:rPr>
                        <a:t>mode_i, err_mode_o</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in/out</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1</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1 = int4: unsupported</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2"/>
                  </a:ext>
                </a:extLst>
              </a:tr>
              <a:tr h="301752">
                <a:tc>
                  <a:txBody>
                    <a:bodyPr/>
                    <a:lstStyle/>
                    <a:p>
                      <a:pPr algn="l"/>
                      <a:r>
                        <a:rPr sz="1100" b="0" i="0">
                          <a:solidFill>
                            <a:schemeClr val="dk1"/>
                          </a:solidFill>
                          <a:latin typeface="DM Sans"/>
                        </a:rPr>
                        <a:t>a_valid_i, a_ready_o</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in/out</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1</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A-row handshake</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3"/>
                  </a:ext>
                </a:extLst>
              </a:tr>
              <a:tr h="301752">
                <a:tc>
                  <a:txBody>
                    <a:bodyPr/>
                    <a:lstStyle/>
                    <a:p>
                      <a:pPr algn="l"/>
                      <a:r>
                        <a:rPr sz="1100" b="0" i="0">
                          <a:solidFill>
                            <a:schemeClr val="dk1"/>
                          </a:solidFill>
                          <a:latin typeface="DM Sans"/>
                        </a:rPr>
                        <a:t>a_row_i</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in</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Cols × 8</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A row; last row first</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4"/>
                  </a:ext>
                </a:extLst>
              </a:tr>
              <a:tr h="301752">
                <a:tc>
                  <a:txBody>
                    <a:bodyPr/>
                    <a:lstStyle/>
                    <a:p>
                      <a:pPr algn="l"/>
                      <a:r>
                        <a:rPr sz="1100" b="0" i="0">
                          <a:solidFill>
                            <a:schemeClr val="dk1"/>
                          </a:solidFill>
                          <a:latin typeface="DM Sans"/>
                        </a:rPr>
                        <a:t>a_full_o</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out</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1</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a full tile is waiting</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5"/>
                  </a:ext>
                </a:extLst>
              </a:tr>
              <a:tr h="301752">
                <a:tc>
                  <a:txBody>
                    <a:bodyPr/>
                    <a:lstStyle/>
                    <a:p>
                      <a:pPr algn="l"/>
                      <a:r>
                        <a:rPr sz="1100" b="0" i="0">
                          <a:solidFill>
                            <a:schemeClr val="dk1"/>
                          </a:solidFill>
                          <a:latin typeface="DM Sans"/>
                        </a:rPr>
                        <a:t>b_valid_i, b_ready_o</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in/out</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1</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B column; always ready</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6"/>
                  </a:ext>
                </a:extLst>
              </a:tr>
              <a:tr h="301752">
                <a:tc>
                  <a:txBody>
                    <a:bodyPr/>
                    <a:lstStyle/>
                    <a:p>
                      <a:pPr algn="l"/>
                      <a:r>
                        <a:rPr sz="1100" b="0" i="0">
                          <a:solidFill>
                            <a:schemeClr val="dk1"/>
                          </a:solidFill>
                          <a:latin typeface="DM Sans"/>
                        </a:rPr>
                        <a:t>b_col_i</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in</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Cols × 8</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one column of B</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7"/>
                  </a:ext>
                </a:extLst>
              </a:tr>
              <a:tr h="301752">
                <a:tc>
                  <a:txBody>
                    <a:bodyPr/>
                    <a:lstStyle/>
                    <a:p>
                      <a:pPr algn="l"/>
                      <a:r>
                        <a:rPr sz="1100" b="0" i="0">
                          <a:solidFill>
                            <a:schemeClr val="dk1"/>
                          </a:solidFill>
                          <a:latin typeface="DM Sans"/>
                        </a:rPr>
                        <a:t>c_valid_o, c_col_o</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out</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Rows × AccW</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100" b="0" i="0">
                          <a:solidFill>
                            <a:schemeClr val="dk1"/>
                          </a:solidFill>
                          <a:latin typeface="DM Sans"/>
                        </a:rPr>
                        <a:t>one column of C</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5577840" y="1691640"/>
            <a:ext cx="3154680" cy="2743200"/>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6" name="TextBox 5"/>
          <p:cNvSpPr txBox="1"/>
          <p:nvPr/>
        </p:nvSpPr>
        <p:spPr>
          <a:xfrm>
            <a:off x="5760720" y="1874520"/>
            <a:ext cx="2788920" cy="292608"/>
          </a:xfrm>
          <a:prstGeom prst="rect">
            <a:avLst/>
          </a:prstGeom>
          <a:noFill/>
        </p:spPr>
        <p:txBody>
          <a:bodyPr wrap="square" lIns="0" tIns="0" rIns="0" bIns="0" anchor="t">
            <a:spAutoFit/>
          </a:bodyPr>
          <a:lstStyle/>
          <a:p>
            <a:pPr algn="l"/>
            <a:r>
              <a:rPr sz="1400" b="1" i="0">
                <a:solidFill>
                  <a:schemeClr val="accent4"/>
                </a:solidFill>
                <a:latin typeface="DM Sans"/>
              </a:rPr>
              <a:t>Timing and tile switching</a:t>
            </a:r>
          </a:p>
        </p:txBody>
      </p:sp>
      <p:sp>
        <p:nvSpPr>
          <p:cNvPr id="7" name="TextBox 6"/>
          <p:cNvSpPr txBox="1"/>
          <p:nvPr/>
        </p:nvSpPr>
        <p:spPr>
          <a:xfrm>
            <a:off x="5760720" y="2258568"/>
            <a:ext cx="2788920" cy="2057400"/>
          </a:xfrm>
          <a:prstGeom prst="rect">
            <a:avLst/>
          </a:prstGeom>
          <a:noFill/>
        </p:spPr>
        <p:txBody>
          <a:bodyPr wrap="square" lIns="0" tIns="0" rIns="0" bIns="0" anchor="t">
            <a:spAutoFit/>
          </a:bodyPr>
          <a:lstStyle/>
          <a:p>
            <a:pPr marL="182880" indent="-182880" algn="l">
              <a:spcAft>
                <a:spcPts val="400"/>
              </a:spcAft>
              <a:buClr>
                <a:schemeClr val="accent1"/>
              </a:buClr>
              <a:buSzPct val="100000"/>
              <a:buFont typeface="Arial"/>
              <a:buChar char="•"/>
            </a:pPr>
            <a:r>
              <a:rPr sz="1200" b="0" i="0">
                <a:solidFill>
                  <a:schemeClr val="dk1"/>
                </a:solidFill>
                <a:latin typeface="DM Sans"/>
              </a:rPr>
              <a:t>C leaves Rows + Cols + 1 cycles after its B column (17 on 8 × 8)</a:t>
            </a:r>
          </a:p>
          <a:p>
            <a:pPr marL="182880" indent="-182880" algn="l">
              <a:spcAft>
                <a:spcPts val="400"/>
              </a:spcAft>
              <a:buClr>
                <a:schemeClr val="accent1"/>
              </a:buClr>
              <a:buSzPct val="100000"/>
              <a:buFont typeface="Arial"/>
              <a:buChar char="•"/>
            </a:pPr>
            <a:r>
              <a:rPr sz="1200" b="0" i="0">
                <a:solidFill>
                  <a:schemeClr val="dk1"/>
                </a:solidFill>
                <a:latin typeface="DM Sans"/>
              </a:rPr>
              <a:t>No backpressure on C: add a FIFO if the consumer can stall</a:t>
            </a:r>
          </a:p>
          <a:p>
            <a:pPr marL="182880" indent="-182880" algn="l">
              <a:spcAft>
                <a:spcPts val="400"/>
              </a:spcAft>
              <a:buClr>
                <a:schemeClr val="accent1"/>
              </a:buClr>
              <a:buSzPct val="100000"/>
              <a:buFont typeface="Arial"/>
              <a:buChar char="•"/>
            </a:pPr>
            <a:r>
              <a:rPr sz="1200" b="0" i="0">
                <a:solidFill>
                  <a:schemeClr val="dk1"/>
                </a:solidFill>
                <a:latin typeface="DM Sans"/>
              </a:rPr>
              <a:t>The next tile loads into shadow registers while this one computes</a:t>
            </a:r>
          </a:p>
          <a:p>
            <a:pPr marL="182880" indent="-182880" algn="l">
              <a:spcAft>
                <a:spcPts val="400"/>
              </a:spcAft>
              <a:buClr>
                <a:schemeClr val="accent1"/>
              </a:buClr>
              <a:buSzPct val="100000"/>
              <a:buFont typeface="Arial"/>
              <a:buChar char="•"/>
            </a:pPr>
            <a:r>
              <a:rPr sz="1200" b="0" i="0">
                <a:solidFill>
                  <a:schemeClr val="dk1"/>
                </a:solidFill>
                <a:latin typeface="DM Sans"/>
              </a:rPr>
              <a:t>The first B column after a_full_o switches to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Inside one PE</a:t>
            </a:r>
          </a:p>
        </p:txBody>
      </p:sp>
      <p:sp>
        <p:nvSpPr>
          <p:cNvPr id="3" name="Lead"/>
          <p:cNvSpPr txBox="1"/>
          <p:nvPr/>
        </p:nvSpPr>
        <p:spPr>
          <a:xfrm>
            <a:off x="393192" y="1161288"/>
            <a:ext cx="8321040" cy="384048"/>
          </a:xfrm>
          <a:prstGeom prst="rect">
            <a:avLst/>
          </a:prstGeom>
          <a:noFill/>
        </p:spPr>
        <p:txBody>
          <a:bodyPr wrap="square" lIns="0" tIns="0" rIns="0" bIns="0" anchor="t">
            <a:spAutoFit/>
          </a:bodyPr>
          <a:lstStyle/>
          <a:p>
            <a:pPr algn="l"/>
            <a:r>
              <a:rPr sz="1600" b="0" i="0">
                <a:solidFill>
                  <a:schemeClr val="dk1"/>
                </a:solidFill>
                <a:latin typeface="DM Sans"/>
              </a:rPr>
              <a:t>Each PE multiplies int8 × int8 and adds without propagating a carry.</a:t>
            </a:r>
          </a:p>
        </p:txBody>
      </p:sp>
      <p:sp>
        <p:nvSpPr>
          <p:cNvPr id="4" name="PE step 1"/>
          <p:cNvSpPr/>
          <p:nvPr/>
        </p:nvSpPr>
        <p:spPr>
          <a:xfrm>
            <a:off x="420624" y="1691640"/>
            <a:ext cx="1828800" cy="868680"/>
          </a:xfrm>
          <a:prstGeom prst="roundRect">
            <a:avLst>
              <a:gd name="adj" fmla="val 8000"/>
            </a:avLst>
          </a:prstGeom>
          <a:solidFill>
            <a:schemeClr val="lt2"/>
          </a:solidFill>
          <a:ln w="12700">
            <a:solidFill>
              <a:schemeClr val="accent5"/>
            </a:solidFill>
          </a:ln>
        </p:spPr>
        <p:txBody>
          <a:bodyPr wrap="square" tIns="91440" bIns="91440" rtlCol="0" anchor="ctr"/>
          <a:lstStyle/>
          <a:p>
            <a:pPr algn="ctr"/>
            <a:r>
              <a:rPr sz="1300" b="1" i="0">
                <a:solidFill>
                  <a:schemeClr val="dk1"/>
                </a:solidFill>
                <a:latin typeface="DM Sans"/>
              </a:rPr>
              <a:t>Operands</a:t>
            </a:r>
          </a:p>
          <a:p>
            <a:pPr algn="ctr"/>
            <a:r>
              <a:rPr sz="1100" b="0" i="0">
                <a:solidFill>
                  <a:schemeClr val="dk2"/>
                </a:solidFill>
                <a:latin typeface="DM Sans"/>
              </a:rPr>
              <a:t>a from the active or shadow register; b from above</a:t>
            </a:r>
          </a:p>
        </p:txBody>
      </p:sp>
      <p:cxnSp>
        <p:nvCxnSpPr>
          <p:cNvPr id="5" name="Connector 4"/>
          <p:cNvCxnSpPr/>
          <p:nvPr/>
        </p:nvCxnSpPr>
        <p:spPr>
          <a:xfrm>
            <a:off x="2286000" y="2125980"/>
            <a:ext cx="265176" cy="0"/>
          </a:xfrm>
          <a:prstGeom prst="line">
            <a:avLst/>
          </a:prstGeom>
          <a:ln w="15875">
            <a:solidFill>
              <a:schemeClr val="dk2"/>
            </a:solidFill>
            <a:tailEnd type="triangle" w="med" len="med"/>
          </a:ln>
        </p:spPr>
      </p:cxnSp>
      <p:sp>
        <p:nvSpPr>
          <p:cNvPr id="6" name="PE step 2"/>
          <p:cNvSpPr/>
          <p:nvPr/>
        </p:nvSpPr>
        <p:spPr>
          <a:xfrm>
            <a:off x="2587752" y="1691640"/>
            <a:ext cx="1828800" cy="868680"/>
          </a:xfrm>
          <a:prstGeom prst="roundRect">
            <a:avLst>
              <a:gd name="adj" fmla="val 8000"/>
            </a:avLst>
          </a:prstGeom>
          <a:solidFill>
            <a:schemeClr val="lt2"/>
          </a:solidFill>
          <a:ln w="12700">
            <a:solidFill>
              <a:schemeClr val="accent5"/>
            </a:solidFill>
          </a:ln>
        </p:spPr>
        <p:txBody>
          <a:bodyPr wrap="square" tIns="91440" bIns="91440" rtlCol="0" anchor="ctr"/>
          <a:lstStyle/>
          <a:p>
            <a:pPr algn="ctr"/>
            <a:r>
              <a:rPr sz="1300" b="1" i="0">
                <a:solidFill>
                  <a:schemeClr val="dk1"/>
                </a:solidFill>
                <a:latin typeface="DM Sans"/>
              </a:rPr>
              <a:t>8 partial products</a:t>
            </a:r>
          </a:p>
          <a:p>
            <a:pPr algn="ctr"/>
            <a:r>
              <a:rPr sz="1100" b="0" i="0">
                <a:solidFill>
                  <a:schemeClr val="dk2"/>
                </a:solidFill>
                <a:latin typeface="DM Sans"/>
              </a:rPr>
              <a:t>shifted copies of a, one per bit of b</a:t>
            </a:r>
          </a:p>
        </p:txBody>
      </p:sp>
      <p:cxnSp>
        <p:nvCxnSpPr>
          <p:cNvPr id="7" name="Connector 6"/>
          <p:cNvCxnSpPr/>
          <p:nvPr/>
        </p:nvCxnSpPr>
        <p:spPr>
          <a:xfrm>
            <a:off x="4453128" y="2125980"/>
            <a:ext cx="265176" cy="0"/>
          </a:xfrm>
          <a:prstGeom prst="line">
            <a:avLst/>
          </a:prstGeom>
          <a:ln w="15875">
            <a:solidFill>
              <a:schemeClr val="dk2"/>
            </a:solidFill>
            <a:tailEnd type="triangle" w="med" len="med"/>
          </a:ln>
        </p:spPr>
      </p:cxnSp>
      <p:sp>
        <p:nvSpPr>
          <p:cNvPr id="8" name="PE step 3"/>
          <p:cNvSpPr/>
          <p:nvPr/>
        </p:nvSpPr>
        <p:spPr>
          <a:xfrm>
            <a:off x="4754880" y="1691640"/>
            <a:ext cx="1828800" cy="868680"/>
          </a:xfrm>
          <a:prstGeom prst="roundRect">
            <a:avLst>
              <a:gd name="adj" fmla="val 8000"/>
            </a:avLst>
          </a:prstGeom>
          <a:solidFill>
            <a:schemeClr val="lt2"/>
          </a:solidFill>
          <a:ln w="12700">
            <a:solidFill>
              <a:schemeClr val="accent5"/>
            </a:solidFill>
          </a:ln>
        </p:spPr>
        <p:txBody>
          <a:bodyPr wrap="square" tIns="91440" bIns="91440" rtlCol="0" anchor="ctr"/>
          <a:lstStyle/>
          <a:p>
            <a:pPr algn="ctr"/>
            <a:r>
              <a:rPr sz="1300" b="1" i="0">
                <a:solidFill>
                  <a:schemeClr val="dk1"/>
                </a:solidFill>
                <a:latin typeface="DM Sans"/>
              </a:rPr>
              <a:t>10 rows</a:t>
            </a:r>
          </a:p>
          <a:p>
            <a:pPr algn="ctr"/>
            <a:r>
              <a:rPr sz="1100" b="0" i="0">
                <a:solidFill>
                  <a:schemeClr val="dk2"/>
                </a:solidFill>
                <a:latin typeface="DM Sans"/>
              </a:rPr>
              <a:t>the 8 products plus the incoming sum and carry</a:t>
            </a:r>
          </a:p>
        </p:txBody>
      </p:sp>
      <p:cxnSp>
        <p:nvCxnSpPr>
          <p:cNvPr id="9" name="Connector 8"/>
          <p:cNvCxnSpPr/>
          <p:nvPr/>
        </p:nvCxnSpPr>
        <p:spPr>
          <a:xfrm>
            <a:off x="6620256" y="2125980"/>
            <a:ext cx="265176" cy="0"/>
          </a:xfrm>
          <a:prstGeom prst="line">
            <a:avLst/>
          </a:prstGeom>
          <a:ln w="15875">
            <a:solidFill>
              <a:schemeClr val="dk2"/>
            </a:solidFill>
            <a:tailEnd type="triangle" w="med" len="med"/>
          </a:ln>
        </p:spPr>
      </p:cxnSp>
      <p:sp>
        <p:nvSpPr>
          <p:cNvPr id="10" name="PE step 4"/>
          <p:cNvSpPr/>
          <p:nvPr/>
        </p:nvSpPr>
        <p:spPr>
          <a:xfrm>
            <a:off x="6922008" y="1691640"/>
            <a:ext cx="1828800" cy="868680"/>
          </a:xfrm>
          <a:prstGeom prst="roundRect">
            <a:avLst>
              <a:gd name="adj" fmla="val 8000"/>
            </a:avLst>
          </a:prstGeom>
          <a:solidFill>
            <a:schemeClr val="accent1"/>
          </a:solidFill>
          <a:ln w="12700">
            <a:solidFill>
              <a:schemeClr val="accent1"/>
            </a:solidFill>
          </a:ln>
        </p:spPr>
        <p:txBody>
          <a:bodyPr wrap="square" tIns="91440" bIns="91440" rtlCol="0" anchor="ctr"/>
          <a:lstStyle/>
          <a:p>
            <a:pPr algn="ctr"/>
            <a:r>
              <a:rPr sz="1300" b="1" i="0">
                <a:solidFill>
                  <a:schemeClr val="dk1"/>
                </a:solidFill>
                <a:latin typeface="DM Sans"/>
              </a:rPr>
              <a:t>Carry-save tree</a:t>
            </a:r>
          </a:p>
          <a:p>
            <a:pPr algn="ctr"/>
            <a:r>
              <a:rPr sz="1100" b="0" i="0">
                <a:solidFill>
                  <a:schemeClr val="dk1"/>
                </a:solidFill>
                <a:latin typeface="DM Sans"/>
              </a:rPr>
              <a:t>5 levels of 3:2 adders down to 2 rows, registered</a:t>
            </a:r>
          </a:p>
        </p:txBody>
      </p:sp>
      <p:sp>
        <p:nvSpPr>
          <p:cNvPr id="11" name="Rounded Rectangle 10"/>
          <p:cNvSpPr/>
          <p:nvPr/>
        </p:nvSpPr>
        <p:spPr>
          <a:xfrm>
            <a:off x="420624" y="2788920"/>
            <a:ext cx="4041648" cy="1645920"/>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12" name="TextBox 11"/>
          <p:cNvSpPr txBox="1"/>
          <p:nvPr/>
        </p:nvSpPr>
        <p:spPr>
          <a:xfrm>
            <a:off x="603504" y="2971800"/>
            <a:ext cx="3675887" cy="292608"/>
          </a:xfrm>
          <a:prstGeom prst="rect">
            <a:avLst/>
          </a:prstGeom>
          <a:noFill/>
        </p:spPr>
        <p:txBody>
          <a:bodyPr wrap="square" lIns="0" tIns="0" rIns="0" bIns="0" anchor="t">
            <a:spAutoFit/>
          </a:bodyPr>
          <a:lstStyle/>
          <a:p>
            <a:pPr algn="l"/>
            <a:r>
              <a:rPr sz="1400" b="1" i="0">
                <a:solidFill>
                  <a:schemeClr val="accent4"/>
                </a:solidFill>
                <a:latin typeface="DM Sans"/>
              </a:rPr>
              <a:t>Why carry-save</a:t>
            </a:r>
          </a:p>
        </p:txBody>
      </p:sp>
      <p:sp>
        <p:nvSpPr>
          <p:cNvPr id="13" name="TextBox 12"/>
          <p:cNvSpPr txBox="1"/>
          <p:nvPr/>
        </p:nvSpPr>
        <p:spPr>
          <a:xfrm>
            <a:off x="603504" y="3355848"/>
            <a:ext cx="3675887" cy="960120"/>
          </a:xfrm>
          <a:prstGeom prst="rect">
            <a:avLst/>
          </a:prstGeom>
          <a:noFill/>
        </p:spPr>
        <p:txBody>
          <a:bodyPr wrap="square" lIns="0" tIns="0" rIns="0" bIns="0" anchor="t">
            <a:spAutoFit/>
          </a:bodyPr>
          <a:lstStyle/>
          <a:p>
            <a:pPr marL="182880" indent="-182880" algn="l">
              <a:spcAft>
                <a:spcPts val="400"/>
              </a:spcAft>
              <a:buClr>
                <a:schemeClr val="accent1"/>
              </a:buClr>
              <a:buSzPct val="100000"/>
              <a:buFont typeface="Arial"/>
              <a:buChar char="•"/>
            </a:pPr>
            <a:r>
              <a:rPr sz="1200" b="0" i="0">
                <a:solidFill>
                  <a:schemeClr val="dk1"/>
                </a:solidFill>
                <a:latin typeface="DM Sans"/>
              </a:rPr>
              <a:t>3:2 adders: three rows in, two out, no ripple</a:t>
            </a:r>
          </a:p>
          <a:p>
            <a:pPr marL="182880" indent="-182880" algn="l">
              <a:spcAft>
                <a:spcPts val="400"/>
              </a:spcAft>
              <a:buClr>
                <a:schemeClr val="accent1"/>
              </a:buClr>
              <a:buSzPct val="100000"/>
              <a:buFont typeface="Arial"/>
              <a:buChar char="•"/>
            </a:pPr>
            <a:r>
              <a:rPr sz="1200" b="0" i="0">
                <a:solidFill>
                  <a:schemeClr val="dk1"/>
                </a:solidFill>
                <a:latin typeface="DM Sans"/>
              </a:rPr>
              <a:t>Critical path: mux + AND + 5 full adders</a:t>
            </a:r>
          </a:p>
          <a:p>
            <a:pPr marL="182880" indent="-182880" algn="l">
              <a:spcAft>
                <a:spcPts val="400"/>
              </a:spcAft>
              <a:buClr>
                <a:schemeClr val="accent1"/>
              </a:buClr>
              <a:buSzPct val="100000"/>
              <a:buFont typeface="Arial"/>
              <a:buChar char="•"/>
            </a:pPr>
            <a:r>
              <a:rPr sz="1200" b="0" i="0">
                <a:solidFill>
                  <a:schemeClr val="dk1"/>
                </a:solidFill>
                <a:latin typeface="DM Sans"/>
              </a:rPr>
              <a:t>Same delay at any accumulator width</a:t>
            </a:r>
          </a:p>
          <a:p>
            <a:pPr marL="182880" indent="-182880" algn="l">
              <a:spcAft>
                <a:spcPts val="400"/>
              </a:spcAft>
              <a:buClr>
                <a:schemeClr val="accent1"/>
              </a:buClr>
              <a:buSzPct val="100000"/>
              <a:buFont typeface="Arial"/>
              <a:buChar char="•"/>
            </a:pPr>
            <a:r>
              <a:rPr sz="1200" b="0" i="0">
                <a:solidFill>
                  <a:schemeClr val="dk1"/>
                </a:solidFill>
                <a:latin typeface="DM Sans"/>
              </a:rPr>
              <a:t>One adder per row, at the edge, finishes it</a:t>
            </a:r>
          </a:p>
        </p:txBody>
      </p:sp>
      <p:sp>
        <p:nvSpPr>
          <p:cNvPr id="14" name="Rounded Rectangle 13"/>
          <p:cNvSpPr/>
          <p:nvPr/>
        </p:nvSpPr>
        <p:spPr>
          <a:xfrm>
            <a:off x="4681728" y="2788920"/>
            <a:ext cx="4041648" cy="1645920"/>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15" name="TextBox 14"/>
          <p:cNvSpPr txBox="1"/>
          <p:nvPr/>
        </p:nvSpPr>
        <p:spPr>
          <a:xfrm>
            <a:off x="4864608" y="2971800"/>
            <a:ext cx="3675887" cy="292608"/>
          </a:xfrm>
          <a:prstGeom prst="rect">
            <a:avLst/>
          </a:prstGeom>
          <a:noFill/>
        </p:spPr>
        <p:txBody>
          <a:bodyPr wrap="square" lIns="0" tIns="0" rIns="0" bIns="0" anchor="t">
            <a:spAutoFit/>
          </a:bodyPr>
          <a:lstStyle/>
          <a:p>
            <a:pPr algn="l"/>
            <a:r>
              <a:rPr sz="1400" b="1" i="0">
                <a:solidFill>
                  <a:schemeClr val="accent4"/>
                </a:solidFill>
                <a:latin typeface="DM Sans"/>
              </a:rPr>
              <a:t>Worked example: a = 3, b = −2</a:t>
            </a:r>
          </a:p>
        </p:txBody>
      </p:sp>
      <p:sp>
        <p:nvSpPr>
          <p:cNvPr id="16" name="TextBox 15"/>
          <p:cNvSpPr txBox="1"/>
          <p:nvPr/>
        </p:nvSpPr>
        <p:spPr>
          <a:xfrm>
            <a:off x="4864608" y="3355848"/>
            <a:ext cx="3675887" cy="960120"/>
          </a:xfrm>
          <a:prstGeom prst="rect">
            <a:avLst/>
          </a:prstGeom>
          <a:noFill/>
        </p:spPr>
        <p:txBody>
          <a:bodyPr wrap="square" lIns="0" tIns="0" rIns="0" bIns="0" anchor="t">
            <a:spAutoFit/>
          </a:bodyPr>
          <a:lstStyle/>
          <a:p>
            <a:pPr marL="182880" indent="-182880" algn="l">
              <a:spcAft>
                <a:spcPts val="400"/>
              </a:spcAft>
              <a:buClr>
                <a:schemeClr val="accent1"/>
              </a:buClr>
              <a:buSzPct val="100000"/>
              <a:buFont typeface="Arial"/>
              <a:buChar char="•"/>
            </a:pPr>
            <a:r>
              <a:rPr sz="1200" b="0" i="0">
                <a:solidFill>
                  <a:schemeClr val="dk1"/>
                </a:solidFill>
                <a:latin typeface="DM Sans"/>
              </a:rPr>
              <a:t>b = 1111 1110; bit 7 is worth −128</a:t>
            </a:r>
          </a:p>
          <a:p>
            <a:pPr marL="182880" indent="-182880" algn="l">
              <a:spcAft>
                <a:spcPts val="400"/>
              </a:spcAft>
              <a:buClr>
                <a:schemeClr val="accent1"/>
              </a:buClr>
              <a:buSzPct val="100000"/>
              <a:buFont typeface="Arial"/>
              <a:buChar char="•"/>
            </a:pPr>
            <a:r>
              <a:rPr sz="1200" b="0" i="0">
                <a:solidFill>
                  <a:schemeClr val="dk1"/>
                </a:solidFill>
                <a:latin typeface="DM Sans"/>
              </a:rPr>
              <a:t>Bits 1–6: 6 + 12 + 24 + 48 + 96 + 192 = 378</a:t>
            </a:r>
          </a:p>
          <a:p>
            <a:pPr marL="182880" indent="-182880" algn="l">
              <a:spcAft>
                <a:spcPts val="400"/>
              </a:spcAft>
              <a:buClr>
                <a:schemeClr val="accent1"/>
              </a:buClr>
              <a:buSzPct val="100000"/>
              <a:buFont typeface="Arial"/>
              <a:buChar char="•"/>
            </a:pPr>
            <a:r>
              <a:rPr sz="1200" b="0" i="0">
                <a:solidFill>
                  <a:schemeClr val="dk1"/>
                </a:solidFill>
                <a:latin typeface="DM Sans"/>
              </a:rPr>
              <a:t>Bit 7: −(3 × 128) = −384, so the total is −6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Self-checking testbench</a:t>
            </a:r>
          </a:p>
        </p:txBody>
      </p:sp>
      <p:sp>
        <p:nvSpPr>
          <p:cNvPr id="3" name="Lead"/>
          <p:cNvSpPr txBox="1"/>
          <p:nvPr/>
        </p:nvSpPr>
        <p:spPr>
          <a:xfrm>
            <a:off x="393192" y="1161288"/>
            <a:ext cx="8321040" cy="384048"/>
          </a:xfrm>
          <a:prstGeom prst="rect">
            <a:avLst/>
          </a:prstGeom>
          <a:noFill/>
        </p:spPr>
        <p:txBody>
          <a:bodyPr wrap="square" lIns="0" tIns="0" rIns="0" bIns="0" anchor="t">
            <a:spAutoFit/>
          </a:bodyPr>
          <a:lstStyle/>
          <a:p>
            <a:pPr algn="l"/>
            <a:r>
              <a:rPr sz="1600" b="0" i="0">
                <a:solidFill>
                  <a:schemeClr val="dk1"/>
                </a:solidFill>
                <a:latin typeface="DM Sans"/>
              </a:rPr>
              <a:t>Two testers check every output against a reference model.</a:t>
            </a:r>
          </a:p>
        </p:txBody>
      </p:sp>
      <p:sp>
        <p:nvSpPr>
          <p:cNvPr id="4" name="Rounded Rectangle 3"/>
          <p:cNvSpPr/>
          <p:nvPr/>
        </p:nvSpPr>
        <p:spPr>
          <a:xfrm>
            <a:off x="420624" y="1737360"/>
            <a:ext cx="4041648" cy="2240280"/>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5" name="Oval 4"/>
          <p:cNvSpPr/>
          <p:nvPr/>
        </p:nvSpPr>
        <p:spPr>
          <a:xfrm>
            <a:off x="585216" y="1892807"/>
            <a:ext cx="329184" cy="329184"/>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Space Grotesk"/>
              </a:rPr>
              <a:t>1</a:t>
            </a:r>
          </a:p>
        </p:txBody>
      </p:sp>
      <p:sp>
        <p:nvSpPr>
          <p:cNvPr id="6" name="TextBox 5"/>
          <p:cNvSpPr txBox="1"/>
          <p:nvPr/>
        </p:nvSpPr>
        <p:spPr>
          <a:xfrm>
            <a:off x="1024128" y="1920240"/>
            <a:ext cx="3255263" cy="292608"/>
          </a:xfrm>
          <a:prstGeom prst="rect">
            <a:avLst/>
          </a:prstGeom>
          <a:noFill/>
        </p:spPr>
        <p:txBody>
          <a:bodyPr wrap="square" lIns="0" tIns="0" rIns="0" bIns="0" anchor="t">
            <a:spAutoFit/>
          </a:bodyPr>
          <a:lstStyle/>
          <a:p>
            <a:pPr algn="l"/>
            <a:r>
              <a:rPr sz="1400" b="1" i="0">
                <a:solidFill>
                  <a:schemeClr val="accent4"/>
                </a:solidFill>
                <a:latin typeface="DM Sans"/>
              </a:rPr>
              <a:t>pe_tester: one PE, every pair</a:t>
            </a:r>
          </a:p>
        </p:txBody>
      </p:sp>
      <p:sp>
        <p:nvSpPr>
          <p:cNvPr id="7" name="TextBox 6"/>
          <p:cNvSpPr txBox="1"/>
          <p:nvPr/>
        </p:nvSpPr>
        <p:spPr>
          <a:xfrm>
            <a:off x="603504" y="2304288"/>
            <a:ext cx="3675887" cy="1554480"/>
          </a:xfrm>
          <a:prstGeom prst="rect">
            <a:avLst/>
          </a:prstGeom>
          <a:noFill/>
        </p:spPr>
        <p:txBody>
          <a:bodyPr wrap="square" lIns="0" tIns="0" rIns="0" bIns="0" anchor="t">
            <a:spAutoFit/>
          </a:bodyPr>
          <a:lstStyle/>
          <a:p>
            <a:pPr marL="182880" indent="-182880" algn="l">
              <a:spcAft>
                <a:spcPts val="400"/>
              </a:spcAft>
              <a:buClr>
                <a:schemeClr val="accent1"/>
              </a:buClr>
              <a:buSzPct val="100000"/>
              <a:buFont typeface="Arial"/>
              <a:buChar char="•"/>
            </a:pPr>
            <a:r>
              <a:rPr sz="1250" b="0" i="0">
                <a:solidFill>
                  <a:schemeClr val="dk1"/>
                </a:solidFill>
                <a:latin typeface="DM Sans"/>
              </a:rPr>
              <a:t>All 65,536 int8 × int8 pairs</a:t>
            </a:r>
          </a:p>
          <a:p>
            <a:pPr marL="182880" indent="-182880" algn="l">
              <a:spcAft>
                <a:spcPts val="400"/>
              </a:spcAft>
              <a:buClr>
                <a:schemeClr val="accent1"/>
              </a:buClr>
              <a:buSzPct val="100000"/>
              <a:buFont typeface="Arial"/>
              <a:buChar char="•"/>
            </a:pPr>
            <a:r>
              <a:rPr sz="1250" b="0" i="0">
                <a:solidFill>
                  <a:schemeClr val="dk1"/>
                </a:solidFill>
                <a:latin typeface="DM Sans"/>
              </a:rPr>
              <a:t>Random incoming sum and carry on every pair</a:t>
            </a:r>
          </a:p>
          <a:p>
            <a:pPr marL="182880" indent="-182880" algn="l">
              <a:spcAft>
                <a:spcPts val="400"/>
              </a:spcAft>
              <a:buClr>
                <a:schemeClr val="accent1"/>
              </a:buClr>
              <a:buSzPct val="100000"/>
              <a:buFont typeface="Arial"/>
              <a:buChar char="•"/>
            </a:pPr>
            <a:r>
              <a:rPr sz="1250" b="0" i="0">
                <a:solidFill>
                  <a:schemeClr val="dk1"/>
                </a:solidFill>
                <a:latin typeface="DM Sans"/>
              </a:rPr>
              <a:t>Both A paths, alternating: shadow (tile switch) and active</a:t>
            </a:r>
          </a:p>
          <a:p>
            <a:pPr marL="182880" indent="-182880" algn="l">
              <a:spcAft>
                <a:spcPts val="400"/>
              </a:spcAft>
              <a:buClr>
                <a:schemeClr val="accent1"/>
              </a:buClr>
              <a:buSzPct val="100000"/>
              <a:buFont typeface="Arial"/>
              <a:buChar char="•"/>
            </a:pPr>
            <a:r>
              <a:rPr sz="1250" b="0" i="0">
                <a:solidFill>
                  <a:schemeClr val="dk1"/>
                </a:solidFill>
                <a:latin typeface="DM Sans"/>
              </a:rPr>
              <a:t>Checks the sum, the B and switch pass-through, and the shadow chain</a:t>
            </a:r>
          </a:p>
        </p:txBody>
      </p:sp>
      <p:sp>
        <p:nvSpPr>
          <p:cNvPr id="8" name="Rounded Rectangle 7"/>
          <p:cNvSpPr/>
          <p:nvPr/>
        </p:nvSpPr>
        <p:spPr>
          <a:xfrm>
            <a:off x="4681728" y="1737360"/>
            <a:ext cx="4041648" cy="2240280"/>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9" name="Oval 8"/>
          <p:cNvSpPr/>
          <p:nvPr/>
        </p:nvSpPr>
        <p:spPr>
          <a:xfrm>
            <a:off x="4846320" y="1892807"/>
            <a:ext cx="329184" cy="329184"/>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Space Grotesk"/>
              </a:rPr>
              <a:t>2</a:t>
            </a:r>
          </a:p>
        </p:txBody>
      </p:sp>
      <p:sp>
        <p:nvSpPr>
          <p:cNvPr id="10" name="TextBox 9"/>
          <p:cNvSpPr txBox="1"/>
          <p:nvPr/>
        </p:nvSpPr>
        <p:spPr>
          <a:xfrm>
            <a:off x="5285232" y="1920240"/>
            <a:ext cx="3255263" cy="292608"/>
          </a:xfrm>
          <a:prstGeom prst="rect">
            <a:avLst/>
          </a:prstGeom>
          <a:noFill/>
        </p:spPr>
        <p:txBody>
          <a:bodyPr wrap="square" lIns="0" tIns="0" rIns="0" bIns="0" anchor="t">
            <a:spAutoFit/>
          </a:bodyPr>
          <a:lstStyle/>
          <a:p>
            <a:pPr algn="l"/>
            <a:r>
              <a:rPr sz="1400" b="1" i="0">
                <a:solidFill>
                  <a:schemeClr val="accent4"/>
                </a:solidFill>
                <a:latin typeface="DM Sans"/>
              </a:rPr>
              <a:t>sa_tester: whole array vs a model</a:t>
            </a:r>
          </a:p>
        </p:txBody>
      </p:sp>
      <p:sp>
        <p:nvSpPr>
          <p:cNvPr id="11" name="TextBox 10"/>
          <p:cNvSpPr txBox="1"/>
          <p:nvPr/>
        </p:nvSpPr>
        <p:spPr>
          <a:xfrm>
            <a:off x="4864608" y="2304288"/>
            <a:ext cx="3675887" cy="1554480"/>
          </a:xfrm>
          <a:prstGeom prst="rect">
            <a:avLst/>
          </a:prstGeom>
          <a:noFill/>
        </p:spPr>
        <p:txBody>
          <a:bodyPr wrap="square" lIns="0" tIns="0" rIns="0" bIns="0" anchor="t">
            <a:spAutoFit/>
          </a:bodyPr>
          <a:lstStyle/>
          <a:p>
            <a:pPr marL="182880" indent="-182880" algn="l">
              <a:spcAft>
                <a:spcPts val="400"/>
              </a:spcAft>
              <a:buClr>
                <a:schemeClr val="accent1"/>
              </a:buClr>
              <a:buSzPct val="100000"/>
              <a:buFont typeface="Arial"/>
              <a:buChar char="•"/>
            </a:pPr>
            <a:r>
              <a:rPr sz="1250" b="0" i="0">
                <a:solidFill>
                  <a:schemeClr val="dk1"/>
                </a:solidFill>
                <a:latin typeface="DM Sans"/>
              </a:rPr>
              <a:t>Random tiles and B columns; 10% at −128 or 127</a:t>
            </a:r>
          </a:p>
          <a:p>
            <a:pPr marL="182880" indent="-182880" algn="l">
              <a:spcAft>
                <a:spcPts val="400"/>
              </a:spcAft>
              <a:buClr>
                <a:schemeClr val="accent1"/>
              </a:buClr>
              <a:buSzPct val="100000"/>
              <a:buFont typeface="Arial"/>
              <a:buChar char="•"/>
            </a:pPr>
            <a:r>
              <a:rPr sz="1250" b="0" i="0">
                <a:solidFill>
                  <a:schemeClr val="dk1"/>
                </a:solidFill>
                <a:latin typeface="DM Sans"/>
              </a:rPr>
              <a:t>Random gaps, overlapped loads and tile switches</a:t>
            </a:r>
          </a:p>
          <a:p>
            <a:pPr marL="182880" indent="-182880" algn="l">
              <a:spcAft>
                <a:spcPts val="400"/>
              </a:spcAft>
              <a:buClr>
                <a:schemeClr val="accent1"/>
              </a:buClr>
              <a:buSzPct val="100000"/>
              <a:buFont typeface="Arial"/>
              <a:buChar char="•"/>
            </a:pPr>
            <a:r>
              <a:rPr sz="1250" b="0" i="0">
                <a:solidFill>
                  <a:schemeClr val="dk1"/>
                </a:solidFill>
                <a:latin typeface="DM Sans"/>
              </a:rPr>
              <a:t>A reference model predicts each C column</a:t>
            </a:r>
          </a:p>
          <a:p>
            <a:pPr marL="182880" indent="-182880" algn="l">
              <a:spcAft>
                <a:spcPts val="400"/>
              </a:spcAft>
              <a:buClr>
                <a:schemeClr val="accent1"/>
              </a:buClr>
              <a:buSzPct val="100000"/>
              <a:buFont typeface="Arial"/>
              <a:buChar char="•"/>
            </a:pPr>
            <a:r>
              <a:rPr sz="1250" b="0" i="0">
                <a:solidFill>
                  <a:schemeClr val="dk1"/>
                </a:solidFill>
                <a:latin typeface="DM Sans"/>
              </a:rPr>
              <a:t>Checks every column, the flags, and that none go missing</a:t>
            </a:r>
          </a:p>
          <a:p>
            <a:pPr marL="182880" indent="-182880" algn="l">
              <a:spcAft>
                <a:spcPts val="400"/>
              </a:spcAft>
              <a:buClr>
                <a:schemeClr val="accent1"/>
              </a:buClr>
              <a:buSzPct val="100000"/>
              <a:buFont typeface="Arial"/>
              <a:buChar char="•"/>
            </a:pPr>
            <a:r>
              <a:rPr sz="1250" b="0" i="0">
                <a:solidFill>
                  <a:schemeClr val="dk1"/>
                </a:solidFill>
                <a:latin typeface="DM Sans"/>
              </a:rPr>
              <a:t>Shapes: 8 × 8, 3 × 5, 5 × 2, 1 × 1</a:t>
            </a:r>
          </a:p>
        </p:txBody>
      </p:sp>
      <p:sp>
        <p:nvSpPr>
          <p:cNvPr id="12" name="TextBox 11"/>
          <p:cNvSpPr txBox="1"/>
          <p:nvPr/>
        </p:nvSpPr>
        <p:spPr>
          <a:xfrm>
            <a:off x="420624" y="4114800"/>
            <a:ext cx="8321040" cy="320040"/>
          </a:xfrm>
          <a:prstGeom prst="rect">
            <a:avLst/>
          </a:prstGeom>
          <a:noFill/>
        </p:spPr>
        <p:txBody>
          <a:bodyPr wrap="square" lIns="0" tIns="0" rIns="0" bIns="0" anchor="t">
            <a:spAutoFit/>
          </a:bodyPr>
          <a:lstStyle/>
          <a:p>
            <a:pPr algn="l"/>
            <a:r>
              <a:rPr sz="1200" b="0" i="0">
                <a:solidFill>
                  <a:schemeClr val="dk2"/>
                </a:solidFill>
                <a:latin typeface="DM Sans"/>
              </a:rPr>
              <a:t>Inputs are driven and outputs checked on the falling clock edge, so the testbench never races the design.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Test results</a:t>
            </a:r>
          </a:p>
        </p:txBody>
      </p:sp>
      <p:sp>
        <p:nvSpPr>
          <p:cNvPr id="3" name="Lead"/>
          <p:cNvSpPr txBox="1"/>
          <p:nvPr/>
        </p:nvSpPr>
        <p:spPr>
          <a:xfrm>
            <a:off x="393192" y="1161288"/>
            <a:ext cx="8321040" cy="384048"/>
          </a:xfrm>
          <a:prstGeom prst="rect">
            <a:avLst/>
          </a:prstGeom>
          <a:noFill/>
        </p:spPr>
        <p:txBody>
          <a:bodyPr wrap="square" lIns="0" tIns="0" rIns="0" bIns="0" anchor="t">
            <a:spAutoFit/>
          </a:bodyPr>
          <a:lstStyle/>
          <a:p>
            <a:pPr algn="l"/>
            <a:r>
              <a:rPr sz="1600" b="0" i="0">
                <a:solidFill>
                  <a:schemeClr val="dk1"/>
                </a:solidFill>
                <a:latin typeface="DM Sans"/>
              </a:rPr>
              <a:t>The exhaustive PE test and all four array shapes pass with zero errors.</a:t>
            </a:r>
          </a:p>
        </p:txBody>
      </p:sp>
      <p:sp>
        <p:nvSpPr>
          <p:cNvPr id="4" name="TextBox 3"/>
          <p:cNvSpPr txBox="1"/>
          <p:nvPr/>
        </p:nvSpPr>
        <p:spPr>
          <a:xfrm>
            <a:off x="420624" y="1783080"/>
            <a:ext cx="2926080" cy="640080"/>
          </a:xfrm>
          <a:prstGeom prst="rect">
            <a:avLst/>
          </a:prstGeom>
          <a:noFill/>
        </p:spPr>
        <p:txBody>
          <a:bodyPr wrap="square" lIns="0" tIns="0" rIns="0" bIns="0" anchor="t">
            <a:spAutoFit/>
          </a:bodyPr>
          <a:lstStyle/>
          <a:p>
            <a:pPr algn="l"/>
            <a:r>
              <a:rPr sz="4000" b="1" i="0">
                <a:solidFill>
                  <a:schemeClr val="accent4"/>
                </a:solidFill>
                <a:latin typeface="Space Grotesk"/>
              </a:rPr>
              <a:t>65,536</a:t>
            </a:r>
          </a:p>
        </p:txBody>
      </p:sp>
      <p:sp>
        <p:nvSpPr>
          <p:cNvPr id="5" name="TextBox 4"/>
          <p:cNvSpPr txBox="1"/>
          <p:nvPr/>
        </p:nvSpPr>
        <p:spPr>
          <a:xfrm>
            <a:off x="420624" y="2441448"/>
            <a:ext cx="3063240" cy="457200"/>
          </a:xfrm>
          <a:prstGeom prst="rect">
            <a:avLst/>
          </a:prstGeom>
          <a:noFill/>
        </p:spPr>
        <p:txBody>
          <a:bodyPr wrap="square" lIns="0" tIns="0" rIns="0" bIns="0" anchor="t">
            <a:spAutoFit/>
          </a:bodyPr>
          <a:lstStyle/>
          <a:p>
            <a:pPr algn="l"/>
            <a:r>
              <a:rPr sz="1300" b="0" i="0">
                <a:solidFill>
                  <a:schemeClr val="dk1"/>
                </a:solidFill>
                <a:latin typeface="DM Sans"/>
              </a:rPr>
              <a:t>input pairs into one PE, 0 errors</a:t>
            </a:r>
          </a:p>
        </p:txBody>
      </p:sp>
      <p:sp>
        <p:nvSpPr>
          <p:cNvPr id="6" name="TextBox 5"/>
          <p:cNvSpPr txBox="1"/>
          <p:nvPr/>
        </p:nvSpPr>
        <p:spPr>
          <a:xfrm>
            <a:off x="420624" y="3063239"/>
            <a:ext cx="2926080" cy="640080"/>
          </a:xfrm>
          <a:prstGeom prst="rect">
            <a:avLst/>
          </a:prstGeom>
          <a:noFill/>
        </p:spPr>
        <p:txBody>
          <a:bodyPr wrap="square" lIns="0" tIns="0" rIns="0" bIns="0" anchor="t">
            <a:spAutoFit/>
          </a:bodyPr>
          <a:lstStyle/>
          <a:p>
            <a:pPr algn="l"/>
            <a:r>
              <a:rPr sz="4000" b="1" i="0">
                <a:solidFill>
                  <a:schemeClr val="accent4"/>
                </a:solidFill>
                <a:latin typeface="Space Grotesk"/>
              </a:rPr>
              <a:t>8,761</a:t>
            </a:r>
          </a:p>
        </p:txBody>
      </p:sp>
      <p:sp>
        <p:nvSpPr>
          <p:cNvPr id="7" name="TextBox 6"/>
          <p:cNvSpPr txBox="1"/>
          <p:nvPr/>
        </p:nvSpPr>
        <p:spPr>
          <a:xfrm>
            <a:off x="420624" y="3721607"/>
            <a:ext cx="3063240" cy="457200"/>
          </a:xfrm>
          <a:prstGeom prst="rect">
            <a:avLst/>
          </a:prstGeom>
          <a:noFill/>
        </p:spPr>
        <p:txBody>
          <a:bodyPr wrap="square" lIns="0" tIns="0" rIns="0" bIns="0" anchor="t">
            <a:spAutoFit/>
          </a:bodyPr>
          <a:lstStyle/>
          <a:p>
            <a:pPr algn="l"/>
            <a:r>
              <a:rPr sz="1300" b="0" i="0">
                <a:solidFill>
                  <a:schemeClr val="dk1"/>
                </a:solidFill>
                <a:latin typeface="DM Sans"/>
              </a:rPr>
              <a:t>array output columns, 0 errors</a:t>
            </a:r>
          </a:p>
        </p:txBody>
      </p:sp>
      <p:graphicFrame>
        <p:nvGraphicFramePr>
          <p:cNvPr id="8" name="Results table"/>
          <p:cNvGraphicFramePr>
            <a:graphicFrameLocks noGrp="1"/>
          </p:cNvGraphicFramePr>
          <p:nvPr/>
        </p:nvGraphicFramePr>
        <p:xfrm>
          <a:off x="3611880" y="1783080"/>
          <a:ext cx="5120640" cy="1920240"/>
        </p:xfrm>
        <a:graphic>
          <a:graphicData uri="http://schemas.openxmlformats.org/drawingml/2006/table">
            <a:tbl>
              <a:tblPr firstRow="1">
                <a:tableStyleId>{2D5ABB26-0587-4C30-8999-92F81FD0307C}</a:tableStyleId>
              </a:tblPr>
              <a:tblGrid>
                <a:gridCol w="914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384048">
                <a:tc>
                  <a:txBody>
                    <a:bodyPr/>
                    <a:lstStyle/>
                    <a:p>
                      <a:pPr algn="l"/>
                      <a:r>
                        <a:rPr sz="1300" b="1" i="0">
                          <a:solidFill>
                            <a:schemeClr val="dk1"/>
                          </a:solidFill>
                          <a:latin typeface="DM Sans"/>
                        </a:rPr>
                        <a:t>Shape</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accent5"/>
                    </a:solidFill>
                  </a:tcPr>
                </a:tc>
                <a:tc>
                  <a:txBody>
                    <a:bodyPr/>
                    <a:lstStyle/>
                    <a:p>
                      <a:pPr algn="l"/>
                      <a:r>
                        <a:rPr sz="1300" b="1" i="0">
                          <a:solidFill>
                            <a:schemeClr val="dk1"/>
                          </a:solidFill>
                          <a:latin typeface="DM Sans"/>
                        </a:rPr>
                        <a:t>AccW</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accent5"/>
                    </a:solidFill>
                  </a:tcPr>
                </a:tc>
                <a:tc>
                  <a:txBody>
                    <a:bodyPr/>
                    <a:lstStyle/>
                    <a:p>
                      <a:pPr algn="r"/>
                      <a:r>
                        <a:rPr sz="1300" b="1" i="0">
                          <a:solidFill>
                            <a:schemeClr val="dk1"/>
                          </a:solidFill>
                          <a:latin typeface="DM Sans"/>
                        </a:rPr>
                        <a:t>Columns</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accent5"/>
                    </a:solidFill>
                  </a:tcPr>
                </a:tc>
                <a:tc>
                  <a:txBody>
                    <a:bodyPr/>
                    <a:lstStyle/>
                    <a:p>
                      <a:pPr algn="r"/>
                      <a:r>
                        <a:rPr sz="1300" b="1" i="0">
                          <a:solidFill>
                            <a:schemeClr val="dk1"/>
                          </a:solidFill>
                          <a:latin typeface="DM Sans"/>
                        </a:rPr>
                        <a:t>Tile switches</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accent5"/>
                    </a:solidFill>
                  </a:tcPr>
                </a:tc>
                <a:tc>
                  <a:txBody>
                    <a:bodyPr/>
                    <a:lstStyle/>
                    <a:p>
                      <a:pPr algn="r"/>
                      <a:r>
                        <a:rPr sz="1300" b="1" i="0">
                          <a:solidFill>
                            <a:schemeClr val="dk1"/>
                          </a:solidFill>
                          <a:latin typeface="DM Sans"/>
                        </a:rPr>
                        <a:t>Errors</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accent5"/>
                    </a:solidFill>
                  </a:tcPr>
                </a:tc>
                <a:extLst>
                  <a:ext uri="{0D108BD9-81ED-4DB2-BD59-A6C34878D82A}">
                    <a16:rowId xmlns:a16="http://schemas.microsoft.com/office/drawing/2014/main" val="10000"/>
                  </a:ext>
                </a:extLst>
              </a:tr>
              <a:tr h="384048">
                <a:tc>
                  <a:txBody>
                    <a:bodyPr/>
                    <a:lstStyle/>
                    <a:p>
                      <a:pPr algn="l"/>
                      <a:r>
                        <a:rPr sz="1300" b="0" i="0">
                          <a:solidFill>
                            <a:schemeClr val="dk1"/>
                          </a:solidFill>
                          <a:latin typeface="DM Sans"/>
                        </a:rPr>
                        <a:t>8 × 8</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300" b="0" i="0">
                          <a:solidFill>
                            <a:schemeClr val="dk1"/>
                          </a:solidFill>
                          <a:latin typeface="DM Sans"/>
                        </a:rPr>
                        <a:t>32</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2,170</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139</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0</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1"/>
                  </a:ext>
                </a:extLst>
              </a:tr>
              <a:tr h="384048">
                <a:tc>
                  <a:txBody>
                    <a:bodyPr/>
                    <a:lstStyle/>
                    <a:p>
                      <a:pPr algn="l"/>
                      <a:r>
                        <a:rPr sz="1300" b="0" i="0">
                          <a:solidFill>
                            <a:schemeClr val="dk1"/>
                          </a:solidFill>
                          <a:latin typeface="DM Sans"/>
                        </a:rPr>
                        <a:t>3 × 5</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300" b="0" i="0">
                          <a:solidFill>
                            <a:schemeClr val="dk1"/>
                          </a:solidFill>
                          <a:latin typeface="DM Sans"/>
                        </a:rPr>
                        <a:t>32</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2,222</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306</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0</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2"/>
                  </a:ext>
                </a:extLst>
              </a:tr>
              <a:tr h="384048">
                <a:tc>
                  <a:txBody>
                    <a:bodyPr/>
                    <a:lstStyle/>
                    <a:p>
                      <a:pPr algn="l"/>
                      <a:r>
                        <a:rPr sz="1300" b="0" i="0">
                          <a:solidFill>
                            <a:schemeClr val="dk1"/>
                          </a:solidFill>
                          <a:latin typeface="DM Sans"/>
                        </a:rPr>
                        <a:t>5 × 2</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300" b="0" i="0">
                          <a:solidFill>
                            <a:schemeClr val="dk1"/>
                          </a:solidFill>
                          <a:latin typeface="DM Sans"/>
                        </a:rPr>
                        <a:t>17 (minimum)</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2,194</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262</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0</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3"/>
                  </a:ext>
                </a:extLst>
              </a:tr>
              <a:tr h="384048">
                <a:tc>
                  <a:txBody>
                    <a:bodyPr/>
                    <a:lstStyle/>
                    <a:p>
                      <a:pPr algn="l"/>
                      <a:r>
                        <a:rPr sz="1300" b="0" i="0">
                          <a:solidFill>
                            <a:schemeClr val="dk1"/>
                          </a:solidFill>
                          <a:latin typeface="DM Sans"/>
                        </a:rPr>
                        <a:t>1 × 1</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l"/>
                      <a:r>
                        <a:rPr sz="1300" b="0" i="0">
                          <a:solidFill>
                            <a:schemeClr val="dk1"/>
                          </a:solidFill>
                          <a:latin typeface="DM Sans"/>
                        </a:rPr>
                        <a:t>16 (minimum)</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2,175</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1,136</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tc>
                  <a:txBody>
                    <a:bodyPr/>
                    <a:lstStyle/>
                    <a:p>
                      <a:pPr algn="r"/>
                      <a:r>
                        <a:rPr sz="1300" b="0" i="0">
                          <a:solidFill>
                            <a:schemeClr val="dk1"/>
                          </a:solidFill>
                          <a:latin typeface="DM Sans"/>
                        </a:rPr>
                        <a:t>0</a:t>
                      </a:r>
                    </a:p>
                  </a:txBody>
                  <a:tcPr marL="73152" marR="73152" marT="18288" marB="18288" anchor="ctr">
                    <a:lnL w="9525" cap="flat" cmpd="sng" algn="ctr">
                      <a:solidFill>
                        <a:schemeClr val="accent5"/>
                      </a:solidFill>
                      <a:prstDash val="solid"/>
                    </a:lnL>
                    <a:lnR w="9525" cap="flat" cmpd="sng" algn="ctr">
                      <a:solidFill>
                        <a:schemeClr val="accent5"/>
                      </a:solidFill>
                      <a:prstDash val="solid"/>
                    </a:lnR>
                    <a:lnT w="9525" cap="flat" cmpd="sng" algn="ctr">
                      <a:solidFill>
                        <a:schemeClr val="accent5"/>
                      </a:solidFill>
                      <a:prstDash val="solid"/>
                    </a:lnT>
                    <a:lnB w="9525" cap="flat" cmpd="sng" algn="ctr">
                      <a:solidFill>
                        <a:schemeClr val="accent5"/>
                      </a:solidFill>
                      <a:prstDash val="solid"/>
                    </a:lnB>
                    <a:solidFill>
                      <a:schemeClr val="lt2"/>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3611880" y="3840480"/>
            <a:ext cx="5120640" cy="548640"/>
          </a:xfrm>
          <a:prstGeom prst="rect">
            <a:avLst/>
          </a:prstGeom>
          <a:noFill/>
        </p:spPr>
        <p:txBody>
          <a:bodyPr wrap="square" lIns="0" tIns="0" rIns="0" bIns="0" anchor="t">
            <a:spAutoFit/>
          </a:bodyPr>
          <a:lstStyle/>
          <a:p>
            <a:pPr algn="l"/>
            <a:r>
              <a:rPr sz="1200" b="0" i="0">
                <a:solidFill>
                  <a:schemeClr val="dk2"/>
                </a:solidFill>
                <a:latin typeface="DM Sans"/>
              </a:rPr>
              <a:t>Run with Verilator 5.053. Not tested yet: reset in the middle of a run, INT4 mode, gate-level netlists.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First cost comparison</a:t>
            </a:r>
          </a:p>
        </p:txBody>
      </p:sp>
      <p:sp>
        <p:nvSpPr>
          <p:cNvPr id="3" name="Lead"/>
          <p:cNvSpPr txBox="1"/>
          <p:nvPr/>
        </p:nvSpPr>
        <p:spPr>
          <a:xfrm>
            <a:off x="393192" y="1161288"/>
            <a:ext cx="8321040" cy="384048"/>
          </a:xfrm>
          <a:prstGeom prst="rect">
            <a:avLst/>
          </a:prstGeom>
          <a:noFill/>
        </p:spPr>
        <p:txBody>
          <a:bodyPr wrap="square" lIns="0" tIns="0" rIns="0" bIns="0" anchor="t">
            <a:spAutoFit/>
          </a:bodyPr>
          <a:lstStyle/>
          <a:p>
            <a:pPr algn="l"/>
            <a:r>
              <a:rPr sz="1600" b="0" i="0">
                <a:solidFill>
                  <a:schemeClr val="dk1"/>
                </a:solidFill>
                <a:latin typeface="DM Sans"/>
              </a:rPr>
              <a:t>Carry-save buys speed with area, and on the FPGA it can't use DSP blocks.</a:t>
            </a:r>
          </a:p>
        </p:txBody>
      </p:sp>
      <p:sp>
        <p:nvSpPr>
          <p:cNvPr id="4" name="TextBox 3"/>
          <p:cNvSpPr txBox="1"/>
          <p:nvPr/>
        </p:nvSpPr>
        <p:spPr>
          <a:xfrm>
            <a:off x="420624" y="1691640"/>
            <a:ext cx="4937760" cy="274320"/>
          </a:xfrm>
          <a:prstGeom prst="rect">
            <a:avLst/>
          </a:prstGeom>
          <a:noFill/>
        </p:spPr>
        <p:txBody>
          <a:bodyPr wrap="square" lIns="0" tIns="0" rIns="0" bIns="0" anchor="t">
            <a:spAutoFit/>
          </a:bodyPr>
          <a:lstStyle/>
          <a:p>
            <a:pPr algn="l"/>
            <a:r>
              <a:rPr sz="1400" b="1" i="0">
                <a:solidFill>
                  <a:schemeClr val="accent4"/>
                </a:solidFill>
                <a:latin typeface="DM Sans"/>
              </a:rPr>
              <a:t>Area per PE, sky130 (µm²)</a:t>
            </a:r>
          </a:p>
        </p:txBody>
      </p:sp>
      <p:graphicFrame>
        <p:nvGraphicFramePr>
          <p:cNvPr id="5" name="Area chart"/>
          <p:cNvGraphicFramePr>
            <a:graphicFrameLocks noGrp="1"/>
          </p:cNvGraphicFramePr>
          <p:nvPr/>
        </p:nvGraphicFramePr>
        <p:xfrm>
          <a:off x="329184" y="1993392"/>
          <a:ext cx="512064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420624" y="4023360"/>
            <a:ext cx="4937760" cy="411480"/>
          </a:xfrm>
          <a:prstGeom prst="rect">
            <a:avLst/>
          </a:prstGeom>
          <a:noFill/>
        </p:spPr>
        <p:txBody>
          <a:bodyPr wrap="square" lIns="0" tIns="0" rIns="0" bIns="0" anchor="t">
            <a:spAutoFit/>
          </a:bodyPr>
          <a:lstStyle/>
          <a:p>
            <a:pPr algn="l"/>
            <a:r>
              <a:rPr sz="1100" b="0" i="0">
                <a:solidFill>
                  <a:schemeClr val="dk2"/>
                </a:solidFill>
                <a:latin typeface="DM Sans"/>
              </a:rPr>
              <a:t>Yosys, open sky130 library, AccW 32: compare ratios, not absolutes.</a:t>
            </a:r>
          </a:p>
        </p:txBody>
      </p:sp>
      <p:sp>
        <p:nvSpPr>
          <p:cNvPr id="7" name="Stat card 1"/>
          <p:cNvSpPr/>
          <p:nvPr/>
        </p:nvSpPr>
        <p:spPr>
          <a:xfrm>
            <a:off x="5669280" y="1691640"/>
            <a:ext cx="3063240" cy="1298448"/>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8" name="TextBox 7"/>
          <p:cNvSpPr txBox="1"/>
          <p:nvPr/>
        </p:nvSpPr>
        <p:spPr>
          <a:xfrm>
            <a:off x="5833872" y="1819656"/>
            <a:ext cx="2743200" cy="274320"/>
          </a:xfrm>
          <a:prstGeom prst="rect">
            <a:avLst/>
          </a:prstGeom>
          <a:noFill/>
        </p:spPr>
        <p:txBody>
          <a:bodyPr wrap="square" lIns="0" tIns="0" rIns="0" bIns="0" anchor="t">
            <a:spAutoFit/>
          </a:bodyPr>
          <a:lstStyle/>
          <a:p>
            <a:pPr algn="l"/>
            <a:r>
              <a:rPr sz="1300" b="1" i="0">
                <a:solidFill>
                  <a:schemeClr val="accent4"/>
                </a:solidFill>
                <a:latin typeface="DM Sans"/>
              </a:rPr>
              <a:t>Logic delay per PE</a:t>
            </a:r>
          </a:p>
        </p:txBody>
      </p:sp>
      <p:sp>
        <p:nvSpPr>
          <p:cNvPr id="9" name="TextBox 8"/>
          <p:cNvSpPr txBox="1"/>
          <p:nvPr/>
        </p:nvSpPr>
        <p:spPr>
          <a:xfrm>
            <a:off x="5833872" y="2093976"/>
            <a:ext cx="2743200" cy="384048"/>
          </a:xfrm>
          <a:prstGeom prst="rect">
            <a:avLst/>
          </a:prstGeom>
          <a:noFill/>
        </p:spPr>
        <p:txBody>
          <a:bodyPr wrap="square" lIns="0" tIns="0" rIns="0" bIns="0" anchor="t">
            <a:spAutoFit/>
          </a:bodyPr>
          <a:lstStyle/>
          <a:p>
            <a:pPr algn="l"/>
            <a:r>
              <a:rPr sz="2000" b="1" i="0">
                <a:solidFill>
                  <a:schemeClr val="dk1"/>
                </a:solidFill>
                <a:latin typeface="Space Grotesk"/>
              </a:rPr>
              <a:t>3.9 ns vs 5.5 ns</a:t>
            </a:r>
          </a:p>
        </p:txBody>
      </p:sp>
      <p:sp>
        <p:nvSpPr>
          <p:cNvPr id="10" name="TextBox 9"/>
          <p:cNvSpPr txBox="1"/>
          <p:nvPr/>
        </p:nvSpPr>
        <p:spPr>
          <a:xfrm>
            <a:off x="5833872" y="2496312"/>
            <a:ext cx="2743200" cy="457200"/>
          </a:xfrm>
          <a:prstGeom prst="rect">
            <a:avLst/>
          </a:prstGeom>
          <a:noFill/>
        </p:spPr>
        <p:txBody>
          <a:bodyPr wrap="square" lIns="0" tIns="0" rIns="0" bIns="0" anchor="t">
            <a:spAutoFit/>
          </a:bodyPr>
          <a:lstStyle/>
          <a:p>
            <a:pPr algn="l"/>
            <a:r>
              <a:rPr sz="1100" b="0" i="0">
                <a:solidFill>
                  <a:schemeClr val="dk2"/>
                </a:solidFill>
                <a:latin typeface="DM Sans"/>
              </a:rPr>
              <a:t>Carry-save vs Booth: about 30% shorter, for about 2× the area</a:t>
            </a:r>
          </a:p>
        </p:txBody>
      </p:sp>
      <p:sp>
        <p:nvSpPr>
          <p:cNvPr id="11" name="Stat card 2"/>
          <p:cNvSpPr/>
          <p:nvPr/>
        </p:nvSpPr>
        <p:spPr>
          <a:xfrm>
            <a:off x="5669280" y="3108960"/>
            <a:ext cx="3063240" cy="1298448"/>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12" name="TextBox 11"/>
          <p:cNvSpPr txBox="1"/>
          <p:nvPr/>
        </p:nvSpPr>
        <p:spPr>
          <a:xfrm>
            <a:off x="5833872" y="3236976"/>
            <a:ext cx="2743200" cy="274320"/>
          </a:xfrm>
          <a:prstGeom prst="rect">
            <a:avLst/>
          </a:prstGeom>
          <a:noFill/>
        </p:spPr>
        <p:txBody>
          <a:bodyPr wrap="square" lIns="0" tIns="0" rIns="0" bIns="0" anchor="t">
            <a:spAutoFit/>
          </a:bodyPr>
          <a:lstStyle/>
          <a:p>
            <a:pPr algn="l"/>
            <a:r>
              <a:rPr sz="1300" b="1" i="0">
                <a:solidFill>
                  <a:schemeClr val="accent4"/>
                </a:solidFill>
                <a:latin typeface="DM Sans"/>
              </a:rPr>
              <a:t>FPGA (UltraScale+, the F2 family)</a:t>
            </a:r>
          </a:p>
        </p:txBody>
      </p:sp>
      <p:sp>
        <p:nvSpPr>
          <p:cNvPr id="13" name="TextBox 12"/>
          <p:cNvSpPr txBox="1"/>
          <p:nvPr/>
        </p:nvSpPr>
        <p:spPr>
          <a:xfrm>
            <a:off x="5833872" y="3511296"/>
            <a:ext cx="2743200" cy="384048"/>
          </a:xfrm>
          <a:prstGeom prst="rect">
            <a:avLst/>
          </a:prstGeom>
          <a:noFill/>
        </p:spPr>
        <p:txBody>
          <a:bodyPr wrap="square" lIns="0" tIns="0" rIns="0" bIns="0" anchor="t">
            <a:spAutoFit/>
          </a:bodyPr>
          <a:lstStyle/>
          <a:p>
            <a:pPr algn="l"/>
            <a:r>
              <a:rPr sz="2000" b="1" i="0">
                <a:solidFill>
                  <a:schemeClr val="dk1"/>
                </a:solidFill>
                <a:latin typeface="Space Grotesk"/>
              </a:rPr>
              <a:t>279 LUTs vs 1 DSP</a:t>
            </a:r>
          </a:p>
        </p:txBody>
      </p:sp>
      <p:sp>
        <p:nvSpPr>
          <p:cNvPr id="14" name="TextBox 13"/>
          <p:cNvSpPr txBox="1"/>
          <p:nvPr/>
        </p:nvSpPr>
        <p:spPr>
          <a:xfrm>
            <a:off x="5833872" y="3913632"/>
            <a:ext cx="2743200" cy="457200"/>
          </a:xfrm>
          <a:prstGeom prst="rect">
            <a:avLst/>
          </a:prstGeom>
          <a:noFill/>
        </p:spPr>
        <p:txBody>
          <a:bodyPr wrap="square" lIns="0" tIns="0" rIns="0" bIns="0" anchor="t">
            <a:spAutoFit/>
          </a:bodyPr>
          <a:lstStyle/>
          <a:p>
            <a:pPr algn="l"/>
            <a:r>
              <a:rPr sz="1100" b="0" i="0">
                <a:solidFill>
                  <a:schemeClr val="dk2"/>
                </a:solidFill>
                <a:latin typeface="DM Sans"/>
              </a:rPr>
              <a:t>Carry-save vs plain: 1 DSP + 40 LUTs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Next steps</a:t>
            </a:r>
          </a:p>
        </p:txBody>
      </p:sp>
      <p:sp>
        <p:nvSpPr>
          <p:cNvPr id="3" name="Lead"/>
          <p:cNvSpPr txBox="1"/>
          <p:nvPr/>
        </p:nvSpPr>
        <p:spPr>
          <a:xfrm>
            <a:off x="393192" y="1161288"/>
            <a:ext cx="8321040" cy="384048"/>
          </a:xfrm>
          <a:prstGeom prst="rect">
            <a:avLst/>
          </a:prstGeom>
          <a:noFill/>
        </p:spPr>
        <p:txBody>
          <a:bodyPr wrap="square" lIns="0" tIns="0" rIns="0" bIns="0" anchor="t">
            <a:spAutoFit/>
          </a:bodyPr>
          <a:lstStyle/>
          <a:p>
            <a:pPr algn="l"/>
            <a:r>
              <a:rPr sz="1600" b="0" i="0">
                <a:solidFill>
                  <a:schemeClr val="dk1"/>
                </a:solidFill>
                <a:latin typeface="DM Sans"/>
              </a:rPr>
              <a:t>Decide how decode maps onto the array before tuning the PE.</a:t>
            </a:r>
          </a:p>
        </p:txBody>
      </p:sp>
      <p:sp>
        <p:nvSpPr>
          <p:cNvPr id="4" name="Rounded Rectangle 3"/>
          <p:cNvSpPr/>
          <p:nvPr/>
        </p:nvSpPr>
        <p:spPr>
          <a:xfrm>
            <a:off x="420624" y="1737360"/>
            <a:ext cx="4041648" cy="1280160"/>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5" name="Oval 4"/>
          <p:cNvSpPr/>
          <p:nvPr/>
        </p:nvSpPr>
        <p:spPr>
          <a:xfrm>
            <a:off x="585216" y="1892807"/>
            <a:ext cx="329184" cy="329184"/>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Space Grotesk"/>
              </a:rPr>
              <a:t>1</a:t>
            </a:r>
          </a:p>
        </p:txBody>
      </p:sp>
      <p:sp>
        <p:nvSpPr>
          <p:cNvPr id="6" name="TextBox 5"/>
          <p:cNvSpPr txBox="1"/>
          <p:nvPr/>
        </p:nvSpPr>
        <p:spPr>
          <a:xfrm>
            <a:off x="1024128" y="1920240"/>
            <a:ext cx="3255263" cy="292608"/>
          </a:xfrm>
          <a:prstGeom prst="rect">
            <a:avLst/>
          </a:prstGeom>
          <a:noFill/>
        </p:spPr>
        <p:txBody>
          <a:bodyPr wrap="square" lIns="0" tIns="0" rIns="0" bIns="0" anchor="t">
            <a:spAutoFit/>
          </a:bodyPr>
          <a:lstStyle/>
          <a:p>
            <a:pPr algn="l"/>
            <a:r>
              <a:rPr sz="1400" b="1" i="0">
                <a:solidFill>
                  <a:schemeClr val="accent4"/>
                </a:solidFill>
                <a:latin typeface="DM Sans"/>
              </a:rPr>
              <a:t>Choose the decode dataflow</a:t>
            </a:r>
          </a:p>
        </p:txBody>
      </p:sp>
      <p:sp>
        <p:nvSpPr>
          <p:cNvPr id="7" name="TextBox 6"/>
          <p:cNvSpPr txBox="1"/>
          <p:nvPr/>
        </p:nvSpPr>
        <p:spPr>
          <a:xfrm>
            <a:off x="603504" y="2304288"/>
            <a:ext cx="3675887" cy="594359"/>
          </a:xfrm>
          <a:prstGeom prst="rect">
            <a:avLst/>
          </a:prstGeom>
          <a:noFill/>
        </p:spPr>
        <p:txBody>
          <a:bodyPr wrap="square" lIns="0" tIns="0" rIns="0" bIns="0" anchor="t">
            <a:spAutoFit/>
          </a:bodyPr>
          <a:lstStyle/>
          <a:p>
            <a:pPr marL="182880" indent="-182880" algn="l">
              <a:spcAft>
                <a:spcPts val="400"/>
              </a:spcAft>
              <a:buClr>
                <a:schemeClr val="accent1"/>
              </a:buClr>
              <a:buSzPct val="100000"/>
              <a:buFont typeface="Arial"/>
              <a:buChar char="•"/>
            </a:pPr>
            <a:r>
              <a:rPr sz="1200" b="0" i="0">
                <a:solidFill>
                  <a:schemeClr val="dk1"/>
                </a:solidFill>
                <a:latin typeface="DM Sans"/>
              </a:rPr>
              <a:t>Batch-1 decode multiplies a matrix by one vector</a:t>
            </a:r>
          </a:p>
          <a:p>
            <a:pPr marL="182880" indent="-182880" algn="l">
              <a:spcAft>
                <a:spcPts val="400"/>
              </a:spcAft>
              <a:buClr>
                <a:schemeClr val="accent1"/>
              </a:buClr>
              <a:buSzPct val="100000"/>
              <a:buFont typeface="Arial"/>
              <a:buChar char="•"/>
            </a:pPr>
            <a:r>
              <a:rPr sz="1200" b="0" i="0">
                <a:solidFill>
                  <a:schemeClr val="dk1"/>
                </a:solidFill>
                <a:latin typeface="DM Sans"/>
              </a:rPr>
              <a:t>An A-stationary array keeps at most 1 row in 8 busy there; prefill uses all of it</a:t>
            </a:r>
          </a:p>
        </p:txBody>
      </p:sp>
      <p:sp>
        <p:nvSpPr>
          <p:cNvPr id="8" name="Rounded Rectangle 7"/>
          <p:cNvSpPr/>
          <p:nvPr/>
        </p:nvSpPr>
        <p:spPr>
          <a:xfrm>
            <a:off x="4681728" y="1737360"/>
            <a:ext cx="4041648" cy="1280160"/>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9" name="Oval 8"/>
          <p:cNvSpPr/>
          <p:nvPr/>
        </p:nvSpPr>
        <p:spPr>
          <a:xfrm>
            <a:off x="4846320" y="1892807"/>
            <a:ext cx="329184" cy="329184"/>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Space Grotesk"/>
              </a:rPr>
              <a:t>2</a:t>
            </a:r>
          </a:p>
        </p:txBody>
      </p:sp>
      <p:sp>
        <p:nvSpPr>
          <p:cNvPr id="10" name="TextBox 9"/>
          <p:cNvSpPr txBox="1"/>
          <p:nvPr/>
        </p:nvSpPr>
        <p:spPr>
          <a:xfrm>
            <a:off x="5285232" y="1920240"/>
            <a:ext cx="3255263" cy="292608"/>
          </a:xfrm>
          <a:prstGeom prst="rect">
            <a:avLst/>
          </a:prstGeom>
          <a:noFill/>
        </p:spPr>
        <p:txBody>
          <a:bodyPr wrap="square" lIns="0" tIns="0" rIns="0" bIns="0" anchor="t">
            <a:spAutoFit/>
          </a:bodyPr>
          <a:lstStyle/>
          <a:p>
            <a:pPr algn="l"/>
            <a:r>
              <a:rPr sz="1400" b="1" i="0">
                <a:solidFill>
                  <a:schemeClr val="accent4"/>
                </a:solidFill>
                <a:latin typeface="DM Sans"/>
              </a:rPr>
              <a:t>Pick the PE style per target</a:t>
            </a:r>
          </a:p>
        </p:txBody>
      </p:sp>
      <p:sp>
        <p:nvSpPr>
          <p:cNvPr id="11" name="TextBox 10"/>
          <p:cNvSpPr txBox="1"/>
          <p:nvPr/>
        </p:nvSpPr>
        <p:spPr>
          <a:xfrm>
            <a:off x="4864608" y="2304288"/>
            <a:ext cx="3675887" cy="594359"/>
          </a:xfrm>
          <a:prstGeom prst="rect">
            <a:avLst/>
          </a:prstGeom>
          <a:noFill/>
        </p:spPr>
        <p:txBody>
          <a:bodyPr wrap="square" lIns="0" tIns="0" rIns="0" bIns="0" anchor="t">
            <a:spAutoFit/>
          </a:bodyPr>
          <a:lstStyle/>
          <a:p>
            <a:pPr marL="182880" indent="-182880" algn="l">
              <a:spcAft>
                <a:spcPts val="400"/>
              </a:spcAft>
              <a:buClr>
                <a:schemeClr val="accent1"/>
              </a:buClr>
              <a:buSzPct val="100000"/>
              <a:buFont typeface="Arial"/>
              <a:buChar char="•"/>
            </a:pPr>
            <a:r>
              <a:rPr sz="1200" b="0" i="0">
                <a:solidFill>
                  <a:schemeClr val="dk1"/>
                </a:solidFill>
                <a:latin typeface="DM Sans"/>
              </a:rPr>
              <a:t>One parameter, same numerics</a:t>
            </a:r>
          </a:p>
          <a:p>
            <a:pPr marL="182880" indent="-182880" algn="l">
              <a:spcAft>
                <a:spcPts val="400"/>
              </a:spcAft>
              <a:buClr>
                <a:schemeClr val="accent1"/>
              </a:buClr>
              <a:buSzPct val="100000"/>
              <a:buFont typeface="Arial"/>
              <a:buChar char="•"/>
            </a:pPr>
            <a:r>
              <a:rPr sz="1200" b="0" i="0">
                <a:solidFill>
                  <a:schemeClr val="dk1"/>
                </a:solidFill>
                <a:latin typeface="DM Sans"/>
              </a:rPr>
              <a:t>Carry-save where DC says it wins; plain multiply-add on the FPGA, so it uses DSPs</a:t>
            </a:r>
          </a:p>
        </p:txBody>
      </p:sp>
      <p:sp>
        <p:nvSpPr>
          <p:cNvPr id="12" name="Rounded Rectangle 11"/>
          <p:cNvSpPr/>
          <p:nvPr/>
        </p:nvSpPr>
        <p:spPr>
          <a:xfrm>
            <a:off x="420624" y="3127248"/>
            <a:ext cx="4041648" cy="1280160"/>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13" name="Oval 12"/>
          <p:cNvSpPr/>
          <p:nvPr/>
        </p:nvSpPr>
        <p:spPr>
          <a:xfrm>
            <a:off x="585216" y="3282696"/>
            <a:ext cx="329184" cy="329184"/>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Space Grotesk"/>
              </a:rPr>
              <a:t>3</a:t>
            </a:r>
          </a:p>
        </p:txBody>
      </p:sp>
      <p:sp>
        <p:nvSpPr>
          <p:cNvPr id="14" name="TextBox 13"/>
          <p:cNvSpPr txBox="1"/>
          <p:nvPr/>
        </p:nvSpPr>
        <p:spPr>
          <a:xfrm>
            <a:off x="1024128" y="3310128"/>
            <a:ext cx="3255263" cy="292608"/>
          </a:xfrm>
          <a:prstGeom prst="rect">
            <a:avLst/>
          </a:prstGeom>
          <a:noFill/>
        </p:spPr>
        <p:txBody>
          <a:bodyPr wrap="square" lIns="0" tIns="0" rIns="0" bIns="0" anchor="t">
            <a:spAutoFit/>
          </a:bodyPr>
          <a:lstStyle/>
          <a:p>
            <a:pPr algn="l"/>
            <a:r>
              <a:rPr sz="1400" b="1" i="0">
                <a:solidFill>
                  <a:schemeClr val="accent4"/>
                </a:solidFill>
                <a:latin typeface="DM Sans"/>
              </a:rPr>
              <a:t>Wrap the array</a:t>
            </a:r>
          </a:p>
        </p:txBody>
      </p:sp>
      <p:sp>
        <p:nvSpPr>
          <p:cNvPr id="15" name="TextBox 14"/>
          <p:cNvSpPr txBox="1"/>
          <p:nvPr/>
        </p:nvSpPr>
        <p:spPr>
          <a:xfrm>
            <a:off x="603504" y="3694176"/>
            <a:ext cx="3675887" cy="594359"/>
          </a:xfrm>
          <a:prstGeom prst="rect">
            <a:avLst/>
          </a:prstGeom>
          <a:noFill/>
        </p:spPr>
        <p:txBody>
          <a:bodyPr wrap="square" lIns="0" tIns="0" rIns="0" bIns="0" anchor="t">
            <a:spAutoFit/>
          </a:bodyPr>
          <a:lstStyle/>
          <a:p>
            <a:pPr marL="182880" indent="-182880" algn="l">
              <a:spcAft>
                <a:spcPts val="400"/>
              </a:spcAft>
              <a:buClr>
                <a:schemeClr val="accent1"/>
              </a:buClr>
              <a:buSzPct val="100000"/>
              <a:buFont typeface="Arial"/>
              <a:buChar char="•"/>
            </a:pPr>
            <a:r>
              <a:rPr sz="1200" b="0" i="0">
                <a:solidFill>
                  <a:schemeClr val="dk1"/>
                </a:solidFill>
                <a:latin typeface="DM Sans"/>
              </a:rPr>
              <a:t>Commands, SRAM fetch and write-back, summing across K</a:t>
            </a:r>
          </a:p>
          <a:p>
            <a:pPr marL="182880" indent="-182880" algn="l">
              <a:spcAft>
                <a:spcPts val="400"/>
              </a:spcAft>
              <a:buClr>
                <a:schemeClr val="accent1"/>
              </a:buClr>
              <a:buSzPct val="100000"/>
              <a:buFont typeface="Arial"/>
              <a:buChar char="•"/>
            </a:pPr>
            <a:r>
              <a:rPr sz="1200" b="0" i="0">
                <a:solidFill>
                  <a:schemeClr val="dk1"/>
                </a:solidFill>
                <a:latin typeface="DM Sans"/>
              </a:rPr>
              <a:t>INT4 2×2 mode and the Q8.24 serial profiles</a:t>
            </a:r>
          </a:p>
        </p:txBody>
      </p:sp>
      <p:sp>
        <p:nvSpPr>
          <p:cNvPr id="16" name="Rounded Rectangle 15"/>
          <p:cNvSpPr/>
          <p:nvPr/>
        </p:nvSpPr>
        <p:spPr>
          <a:xfrm>
            <a:off x="4681728" y="3127248"/>
            <a:ext cx="4041648" cy="1280160"/>
          </a:xfrm>
          <a:prstGeom prst="roundRect">
            <a:avLst>
              <a:gd name="adj" fmla="val 8000"/>
            </a:avLst>
          </a:prstGeom>
          <a:solidFill>
            <a:schemeClr val="lt2"/>
          </a:solidFill>
          <a:ln w="12700">
            <a:solidFill>
              <a:schemeClr val="accent5"/>
            </a:solidFill>
          </a:ln>
        </p:spPr>
        <p:txBody>
          <a:bodyPr rtlCol="0" anchor="ctr"/>
          <a:lstStyle/>
          <a:p>
            <a:pPr algn="ctr"/>
            <a:endParaRPr/>
          </a:p>
        </p:txBody>
      </p:sp>
      <p:sp>
        <p:nvSpPr>
          <p:cNvPr id="17" name="Oval 16"/>
          <p:cNvSpPr/>
          <p:nvPr/>
        </p:nvSpPr>
        <p:spPr>
          <a:xfrm>
            <a:off x="4846320" y="3282696"/>
            <a:ext cx="329184" cy="329184"/>
          </a:xfrm>
          <a:prstGeom prst="ellipse">
            <a:avLst/>
          </a:prstGeom>
          <a:solidFill>
            <a:schemeClr val="accent1"/>
          </a:solidFill>
          <a:ln>
            <a:noFill/>
          </a:ln>
        </p:spPr>
        <p:txBody>
          <a:bodyPr wrap="square" lIns="0" tIns="0" rIns="0" bIns="0" rtlCol="0" anchor="ctr"/>
          <a:lstStyle/>
          <a:p>
            <a:pPr algn="ctr"/>
            <a:r>
              <a:rPr sz="1400" b="1" i="0">
                <a:solidFill>
                  <a:schemeClr val="dk1"/>
                </a:solidFill>
                <a:latin typeface="Space Grotesk"/>
              </a:rPr>
              <a:t>4</a:t>
            </a:r>
          </a:p>
        </p:txBody>
      </p:sp>
      <p:sp>
        <p:nvSpPr>
          <p:cNvPr id="18" name="TextBox 17"/>
          <p:cNvSpPr txBox="1"/>
          <p:nvPr/>
        </p:nvSpPr>
        <p:spPr>
          <a:xfrm>
            <a:off x="5285232" y="3310128"/>
            <a:ext cx="3255263" cy="292608"/>
          </a:xfrm>
          <a:prstGeom prst="rect">
            <a:avLst/>
          </a:prstGeom>
          <a:noFill/>
        </p:spPr>
        <p:txBody>
          <a:bodyPr wrap="square" lIns="0" tIns="0" rIns="0" bIns="0" anchor="t">
            <a:spAutoFit/>
          </a:bodyPr>
          <a:lstStyle/>
          <a:p>
            <a:pPr algn="l"/>
            <a:r>
              <a:rPr sz="1400" b="1" i="0">
                <a:solidFill>
                  <a:schemeClr val="accent4"/>
                </a:solidFill>
                <a:latin typeface="DM Sans"/>
              </a:rPr>
              <a:t>Measure with the real tools</a:t>
            </a:r>
          </a:p>
        </p:txBody>
      </p:sp>
      <p:sp>
        <p:nvSpPr>
          <p:cNvPr id="19" name="TextBox 18"/>
          <p:cNvSpPr txBox="1"/>
          <p:nvPr/>
        </p:nvSpPr>
        <p:spPr>
          <a:xfrm>
            <a:off x="4864608" y="3694176"/>
            <a:ext cx="3675887" cy="594359"/>
          </a:xfrm>
          <a:prstGeom prst="rect">
            <a:avLst/>
          </a:prstGeom>
          <a:noFill/>
        </p:spPr>
        <p:txBody>
          <a:bodyPr wrap="square" lIns="0" tIns="0" rIns="0" bIns="0" anchor="t">
            <a:spAutoFit/>
          </a:bodyPr>
          <a:lstStyle/>
          <a:p>
            <a:pPr marL="182880" indent="-182880" algn="l">
              <a:spcAft>
                <a:spcPts val="400"/>
              </a:spcAft>
              <a:buClr>
                <a:schemeClr val="accent1"/>
              </a:buClr>
              <a:buSzPct val="100000"/>
              <a:buFont typeface="Arial"/>
              <a:buChar char="•"/>
            </a:pPr>
            <a:r>
              <a:rPr sz="1200" b="0" i="0">
                <a:solidFill>
                  <a:schemeClr val="dk1"/>
                </a:solidFill>
                <a:latin typeface="DM Sans"/>
              </a:rPr>
              <a:t>Design Compiler sweep across clock targets, team library</a:t>
            </a:r>
          </a:p>
          <a:p>
            <a:pPr marL="182880" indent="-182880" algn="l">
              <a:spcAft>
                <a:spcPts val="400"/>
              </a:spcAft>
              <a:buClr>
                <a:schemeClr val="accent1"/>
              </a:buClr>
              <a:buSzPct val="100000"/>
              <a:buFont typeface="Arial"/>
              <a:buChar char="•"/>
            </a:pPr>
            <a:r>
              <a:rPr sz="1200" b="0" i="0">
                <a:solidFill>
                  <a:schemeClr val="dk1"/>
                </a:solidFill>
                <a:latin typeface="DM Sans"/>
              </a:rPr>
              <a:t>Vivado on the F2 part for timing at 250 MHz</a:t>
            </a:r>
          </a:p>
        </p:txBody>
      </p:sp>
    </p:spTree>
  </p:cSld>
  <p:clrMapOvr>
    <a:masterClrMapping/>
  </p:clrMapOvr>
</p:sld>
</file>

<file path=ppt/theme/theme1.xml><?xml version="1.0" encoding="utf-8"?>
<a:theme xmlns:a="http://schemas.openxmlformats.org/drawingml/2006/main" name="Silicon Badgers">
  <a:themeElements>
    <a:clrScheme name="Simple Light">
      <a:dk1>
        <a:srgbClr val="F2E6E6"/>
      </a:dk1>
      <a:lt1>
        <a:srgbClr val="050303"/>
      </a:lt1>
      <a:dk2>
        <a:srgbClr val="B89A9A"/>
      </a:dk2>
      <a:lt2>
        <a:srgbClr val="241012"/>
      </a:lt2>
      <a:accent1>
        <a:srgbClr val="C5050C"/>
      </a:accent1>
      <a:accent2>
        <a:srgbClr val="F2E6E6"/>
      </a:accent2>
      <a:accent3>
        <a:srgbClr val="B89A9A"/>
      </a:accent3>
      <a:accent4>
        <a:srgbClr val="EF6B70"/>
      </a:accent4>
      <a:accent5>
        <a:srgbClr val="7F3036"/>
      </a:accent5>
      <a:accent6>
        <a:srgbClr val="DCC5C5"/>
      </a:accent6>
      <a:hlink>
        <a:srgbClr val="EF6B7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1893</Words>
  <Application>Microsoft Office PowerPoint</Application>
  <PresentationFormat>On-screen Show (16:9)</PresentationFormat>
  <Paragraphs>220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Space Grotesk</vt:lpstr>
      <vt:lpstr>DM Sans</vt:lpstr>
      <vt:lpstr>Silicon Badgers</vt:lpstr>
      <vt:lpstr>Matrix Unit Status Update</vt:lpstr>
      <vt:lpstr>Where the PE array fits</vt:lpstr>
      <vt:lpstr>How the systolic array works</vt:lpstr>
      <vt:lpstr>Interface and tile switching</vt:lpstr>
      <vt:lpstr>Inside one PE</vt:lpstr>
      <vt:lpstr>Self-checking testbench</vt:lpstr>
      <vt:lpstr>Test results</vt:lpstr>
      <vt:lpstr>First cost comparison</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BurgShot Homie</cp:lastModifiedBy>
  <cp:revision>1</cp:revision>
  <dcterms:modified xsi:type="dcterms:W3CDTF">2026-10-10T07:14:27Z</dcterms:modified>
</cp:coreProperties>
</file>